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1" r:id="rId3"/>
    <p:sldId id="257" r:id="rId4"/>
    <p:sldId id="258" r:id="rId5"/>
    <p:sldId id="284" r:id="rId6"/>
    <p:sldId id="259" r:id="rId7"/>
    <p:sldId id="280" r:id="rId8"/>
    <p:sldId id="281" r:id="rId9"/>
    <p:sldId id="273" r:id="rId10"/>
    <p:sldId id="279" r:id="rId11"/>
    <p:sldId id="282" r:id="rId12"/>
    <p:sldId id="278" r:id="rId13"/>
    <p:sldId id="272" r:id="rId14"/>
    <p:sldId id="274" r:id="rId15"/>
    <p:sldId id="276" r:id="rId16"/>
    <p:sldId id="283" r:id="rId17"/>
    <p:sldId id="277" r:id="rId18"/>
    <p:sldId id="286" r:id="rId19"/>
    <p:sldId id="285" r:id="rId20"/>
    <p:sldId id="260" r:id="rId21"/>
    <p:sldId id="265" r:id="rId22"/>
    <p:sldId id="266" r:id="rId23"/>
    <p:sldId id="267" r:id="rId24"/>
    <p:sldId id="268" r:id="rId25"/>
    <p:sldId id="269" r:id="rId26"/>
    <p:sldId id="271" r:id="rId27"/>
    <p:sldId id="270" r:id="rId28"/>
    <p:sldId id="262"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F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7" d="100"/>
          <a:sy n="107" d="100"/>
        </p:scale>
        <p:origin x="177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FF9ADE-7A19-48B0-A3F2-C83BC8F42517}"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CFDA09-3327-42A4-9D05-81E0FACF53E9}"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297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F9ADE-7A19-48B0-A3F2-C83BC8F42517}"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CFDA09-3327-42A4-9D05-81E0FACF53E9}" type="slidenum">
              <a:rPr lang="en-US" smtClean="0"/>
              <a:t>‹#›</a:t>
            </a:fld>
            <a:endParaRPr lang="en-US"/>
          </a:p>
        </p:txBody>
      </p:sp>
    </p:spTree>
    <p:extLst>
      <p:ext uri="{BB962C8B-B14F-4D97-AF65-F5344CB8AC3E}">
        <p14:creationId xmlns:p14="http://schemas.microsoft.com/office/powerpoint/2010/main" val="3834933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FF9ADE-7A19-48B0-A3F2-C83BC8F42517}"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CFDA09-3327-42A4-9D05-81E0FACF53E9}"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9256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FF9ADE-7A19-48B0-A3F2-C83BC8F42517}"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CFDA09-3327-42A4-9D05-81E0FACF53E9}" type="slidenum">
              <a:rPr lang="en-US" smtClean="0"/>
              <a:t>‹#›</a:t>
            </a:fld>
            <a:endParaRPr lang="en-US"/>
          </a:p>
        </p:txBody>
      </p:sp>
    </p:spTree>
    <p:extLst>
      <p:ext uri="{BB962C8B-B14F-4D97-AF65-F5344CB8AC3E}">
        <p14:creationId xmlns:p14="http://schemas.microsoft.com/office/powerpoint/2010/main" val="2832580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FF9ADE-7A19-48B0-A3F2-C83BC8F42517}"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CFDA09-3327-42A4-9D05-81E0FACF53E9}" type="slidenum">
              <a:rPr lang="en-US" smtClean="0"/>
              <a:t>‹#›</a:t>
            </a:fld>
            <a:endParaRPr lang="en-US"/>
          </a:p>
        </p:txBody>
      </p:sp>
    </p:spTree>
    <p:extLst>
      <p:ext uri="{BB962C8B-B14F-4D97-AF65-F5344CB8AC3E}">
        <p14:creationId xmlns:p14="http://schemas.microsoft.com/office/powerpoint/2010/main" val="2628609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FF9ADE-7A19-48B0-A3F2-C83BC8F42517}"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CFDA09-3327-42A4-9D05-81E0FACF53E9}" type="slidenum">
              <a:rPr lang="en-US" smtClean="0"/>
              <a:t>‹#›</a:t>
            </a:fld>
            <a:endParaRPr lang="en-US"/>
          </a:p>
        </p:txBody>
      </p:sp>
    </p:spTree>
    <p:extLst>
      <p:ext uri="{BB962C8B-B14F-4D97-AF65-F5344CB8AC3E}">
        <p14:creationId xmlns:p14="http://schemas.microsoft.com/office/powerpoint/2010/main" val="2672946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FF9ADE-7A19-48B0-A3F2-C83BC8F42517}" type="datetimeFigureOut">
              <a:rPr lang="en-US" smtClean="0"/>
              <a:t>6/27/2026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5CFDA09-3327-42A4-9D05-81E0FACF53E9}" type="slidenum">
              <a:rPr lang="en-US" smtClean="0"/>
              <a:t>‹#›</a:t>
            </a:fld>
            <a:endParaRPr lang="en-US"/>
          </a:p>
        </p:txBody>
      </p:sp>
    </p:spTree>
    <p:extLst>
      <p:ext uri="{BB962C8B-B14F-4D97-AF65-F5344CB8AC3E}">
        <p14:creationId xmlns:p14="http://schemas.microsoft.com/office/powerpoint/2010/main" val="1698255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68FF9ADE-7A19-48B0-A3F2-C83BC8F42517}" type="datetimeFigureOut">
              <a:rPr lang="en-US" smtClean="0"/>
              <a:t>6/27/2026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5CFDA09-3327-42A4-9D05-81E0FACF53E9}" type="slidenum">
              <a:rPr lang="en-US" smtClean="0"/>
              <a:t>‹#›</a:t>
            </a:fld>
            <a:endParaRPr lang="en-US"/>
          </a:p>
        </p:txBody>
      </p:sp>
    </p:spTree>
    <p:extLst>
      <p:ext uri="{BB962C8B-B14F-4D97-AF65-F5344CB8AC3E}">
        <p14:creationId xmlns:p14="http://schemas.microsoft.com/office/powerpoint/2010/main" val="992905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FF9ADE-7A19-48B0-A3F2-C83BC8F42517}"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CFDA09-3327-42A4-9D05-81E0FACF53E9}" type="slidenum">
              <a:rPr lang="en-US" smtClean="0"/>
              <a:t>‹#›</a:t>
            </a:fld>
            <a:endParaRPr lang="en-US"/>
          </a:p>
        </p:txBody>
      </p:sp>
    </p:spTree>
    <p:extLst>
      <p:ext uri="{BB962C8B-B14F-4D97-AF65-F5344CB8AC3E}">
        <p14:creationId xmlns:p14="http://schemas.microsoft.com/office/powerpoint/2010/main" val="3352674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F9ADE-7A19-48B0-A3F2-C83BC8F42517}"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CFDA09-3327-42A4-9D05-81E0FACF53E9}" type="slidenum">
              <a:rPr lang="en-US" smtClean="0"/>
              <a:t>‹#›</a:t>
            </a:fld>
            <a:endParaRPr lang="en-US"/>
          </a:p>
        </p:txBody>
      </p:sp>
    </p:spTree>
    <p:extLst>
      <p:ext uri="{BB962C8B-B14F-4D97-AF65-F5344CB8AC3E}">
        <p14:creationId xmlns:p14="http://schemas.microsoft.com/office/powerpoint/2010/main" val="4115806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FF9ADE-7A19-48B0-A3F2-C83BC8F42517}"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CFDA09-3327-42A4-9D05-81E0FACF53E9}" type="slidenum">
              <a:rPr lang="en-US" smtClean="0"/>
              <a:t>‹#›</a:t>
            </a:fld>
            <a:endParaRPr lang="en-US"/>
          </a:p>
        </p:txBody>
      </p:sp>
    </p:spTree>
    <p:extLst>
      <p:ext uri="{BB962C8B-B14F-4D97-AF65-F5344CB8AC3E}">
        <p14:creationId xmlns:p14="http://schemas.microsoft.com/office/powerpoint/2010/main" val="2249964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68FF9ADE-7A19-48B0-A3F2-C83BC8F42517}" type="datetimeFigureOut">
              <a:rPr lang="en-US" smtClean="0"/>
              <a:t>6/27/2026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35CFDA09-3327-42A4-9D05-81E0FACF53E9}"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19733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1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14.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0.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1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1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716BE-EC45-7DDB-DBBD-C3EB464EA15F}"/>
              </a:ext>
            </a:extLst>
          </p:cNvPr>
          <p:cNvSpPr>
            <a:spLocks noGrp="1"/>
          </p:cNvSpPr>
          <p:nvPr>
            <p:ph type="ctrTitle"/>
          </p:nvPr>
        </p:nvSpPr>
        <p:spPr/>
        <p:txBody>
          <a:bodyPr>
            <a:normAutofit/>
          </a:bodyPr>
          <a:lstStyle/>
          <a:p>
            <a:r>
              <a:rPr lang="en-US" dirty="0"/>
              <a:t>Baseball Trajectory Simulation</a:t>
            </a:r>
          </a:p>
        </p:txBody>
      </p:sp>
      <p:sp>
        <p:nvSpPr>
          <p:cNvPr id="3" name="Subtitle 2">
            <a:extLst>
              <a:ext uri="{FF2B5EF4-FFF2-40B4-BE49-F238E27FC236}">
                <a16:creationId xmlns:a16="http://schemas.microsoft.com/office/drawing/2014/main" id="{1126D4AF-0E9D-75DE-8913-B6EEA5D0B02C}"/>
              </a:ext>
            </a:extLst>
          </p:cNvPr>
          <p:cNvSpPr>
            <a:spLocks noGrp="1"/>
          </p:cNvSpPr>
          <p:nvPr>
            <p:ph type="subTitle" idx="1"/>
          </p:nvPr>
        </p:nvSpPr>
        <p:spPr/>
        <p:txBody>
          <a:bodyPr/>
          <a:lstStyle/>
          <a:p>
            <a:r>
              <a:rPr lang="en-US" dirty="0"/>
              <a:t>Bradley Canty</a:t>
            </a:r>
          </a:p>
          <a:p>
            <a:r>
              <a:rPr lang="en-US" dirty="0"/>
              <a:t>2026/06/25</a:t>
            </a:r>
          </a:p>
        </p:txBody>
      </p:sp>
    </p:spTree>
    <p:extLst>
      <p:ext uri="{BB962C8B-B14F-4D97-AF65-F5344CB8AC3E}">
        <p14:creationId xmlns:p14="http://schemas.microsoft.com/office/powerpoint/2010/main" val="767214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A0958-345E-756E-CD57-3908248E0940}"/>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4A19B23D-2523-B339-55F2-69F6D1384A72}"/>
              </a:ext>
            </a:extLst>
          </p:cNvPr>
          <p:cNvSpPr>
            <a:spLocks noGrp="1"/>
          </p:cNvSpPr>
          <p:nvPr>
            <p:ph idx="1"/>
          </p:nvPr>
        </p:nvSpPr>
        <p:spPr/>
        <p:txBody>
          <a:bodyPr/>
          <a:lstStyle/>
          <a:p>
            <a:pPr marL="457200" indent="-457200">
              <a:buFont typeface="+mj-lt"/>
              <a:buAutoNum type="arabicPeriod"/>
            </a:pPr>
            <a:r>
              <a:rPr lang="en-US" dirty="0"/>
              <a:t>Simulation Overview</a:t>
            </a:r>
          </a:p>
          <a:p>
            <a:pPr marL="457200" indent="-457200">
              <a:buFont typeface="+mj-lt"/>
              <a:buAutoNum type="arabicPeriod"/>
            </a:pPr>
            <a:r>
              <a:rPr lang="en-US" dirty="0"/>
              <a:t>Projectile Motion in a Vacuum</a:t>
            </a:r>
          </a:p>
          <a:p>
            <a:pPr marL="457200" indent="-457200">
              <a:buFont typeface="+mj-lt"/>
              <a:buAutoNum type="arabicPeriod"/>
            </a:pPr>
            <a:r>
              <a:rPr lang="en-US" dirty="0"/>
              <a:t>Projectile Motion through Air</a:t>
            </a:r>
          </a:p>
          <a:p>
            <a:pPr marL="457200" indent="-457200">
              <a:buFont typeface="+mj-lt"/>
              <a:buAutoNum type="arabicPeriod"/>
            </a:pPr>
            <a:r>
              <a:rPr lang="en-US" dirty="0"/>
              <a:t>Program Flow Diagram</a:t>
            </a:r>
          </a:p>
          <a:p>
            <a:pPr marL="457200" indent="-457200">
              <a:buFont typeface="+mj-lt"/>
              <a:buAutoNum type="arabicPeriod"/>
            </a:pPr>
            <a:r>
              <a:rPr lang="en-US" dirty="0"/>
              <a:t>Program Inputs</a:t>
            </a:r>
          </a:p>
          <a:p>
            <a:pPr marL="457200" indent="-457200">
              <a:buFont typeface="+mj-lt"/>
              <a:buAutoNum type="arabicPeriod"/>
            </a:pPr>
            <a:r>
              <a:rPr lang="en-US" dirty="0"/>
              <a:t>Program Outputs</a:t>
            </a:r>
          </a:p>
        </p:txBody>
      </p:sp>
    </p:spTree>
    <p:extLst>
      <p:ext uri="{BB962C8B-B14F-4D97-AF65-F5344CB8AC3E}">
        <p14:creationId xmlns:p14="http://schemas.microsoft.com/office/powerpoint/2010/main" val="2509756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791EE-9B1D-ACFA-1E31-62DDF68331E7}"/>
              </a:ext>
            </a:extLst>
          </p:cNvPr>
          <p:cNvSpPr>
            <a:spLocks noGrp="1"/>
          </p:cNvSpPr>
          <p:nvPr>
            <p:ph type="title"/>
          </p:nvPr>
        </p:nvSpPr>
        <p:spPr/>
        <p:txBody>
          <a:bodyPr/>
          <a:lstStyle/>
          <a:p>
            <a:r>
              <a:rPr lang="en-US" dirty="0"/>
              <a:t>Simulation Overview</a:t>
            </a:r>
          </a:p>
        </p:txBody>
      </p:sp>
      <p:sp>
        <p:nvSpPr>
          <p:cNvPr id="3" name="Content Placeholder 2">
            <a:extLst>
              <a:ext uri="{FF2B5EF4-FFF2-40B4-BE49-F238E27FC236}">
                <a16:creationId xmlns:a16="http://schemas.microsoft.com/office/drawing/2014/main" id="{7AAEA411-C5A2-654C-9837-ACA0409DB90E}"/>
              </a:ext>
            </a:extLst>
          </p:cNvPr>
          <p:cNvSpPr>
            <a:spLocks noGrp="1"/>
          </p:cNvSpPr>
          <p:nvPr>
            <p:ph idx="1"/>
          </p:nvPr>
        </p:nvSpPr>
        <p:spPr>
          <a:xfrm>
            <a:off x="591671" y="1845734"/>
            <a:ext cx="8462682" cy="3918572"/>
          </a:xfrm>
        </p:spPr>
        <p:txBody>
          <a:bodyPr>
            <a:normAutofit fontScale="92500" lnSpcReduction="10000"/>
          </a:bodyPr>
          <a:lstStyle/>
          <a:p>
            <a:pPr>
              <a:buFont typeface="Arial" panose="020B0604020202020204" pitchFamily="34" charset="0"/>
              <a:buChar char="•"/>
            </a:pPr>
            <a:r>
              <a:rPr lang="en-US" sz="2400" dirty="0"/>
              <a:t>User inputs:</a:t>
            </a:r>
          </a:p>
          <a:p>
            <a:pPr lvl="1">
              <a:buFont typeface="Arial" panose="020B0604020202020204" pitchFamily="34" charset="0"/>
              <a:buChar char="•"/>
            </a:pPr>
            <a:r>
              <a:rPr lang="en-US" sz="2000" dirty="0"/>
              <a:t>Batted Ball Speed [mph]</a:t>
            </a:r>
          </a:p>
          <a:p>
            <a:pPr lvl="1">
              <a:buFont typeface="Arial" panose="020B0604020202020204" pitchFamily="34" charset="0"/>
              <a:buChar char="•"/>
            </a:pPr>
            <a:r>
              <a:rPr lang="en-US" sz="2000" dirty="0"/>
              <a:t>Launch angle [degrees]</a:t>
            </a:r>
          </a:p>
          <a:p>
            <a:pPr lvl="1">
              <a:buFont typeface="Arial" panose="020B0604020202020204" pitchFamily="34" charset="0"/>
              <a:buChar char="•"/>
            </a:pPr>
            <a:r>
              <a:rPr lang="en-US" sz="2000" dirty="0"/>
              <a:t>Time step size</a:t>
            </a:r>
          </a:p>
          <a:p>
            <a:pPr>
              <a:buFont typeface="Arial" panose="020B0604020202020204" pitchFamily="34" charset="0"/>
              <a:buChar char="•"/>
            </a:pPr>
            <a:r>
              <a:rPr lang="en-US" sz="2400" dirty="0"/>
              <a:t>Outputs:</a:t>
            </a:r>
          </a:p>
          <a:p>
            <a:pPr lvl="1">
              <a:buFont typeface="Arial" panose="020B0604020202020204" pitchFamily="34" charset="0"/>
              <a:buChar char="•"/>
            </a:pPr>
            <a:r>
              <a:rPr lang="en-US" sz="2000" dirty="0"/>
              <a:t>To console…</a:t>
            </a:r>
          </a:p>
          <a:p>
            <a:pPr lvl="2">
              <a:buFont typeface="Arial" panose="020B0604020202020204" pitchFamily="34" charset="0"/>
              <a:buChar char="•"/>
            </a:pPr>
            <a:r>
              <a:rPr lang="en-US" sz="1600" dirty="0"/>
              <a:t>Newton drag trajectory time of flight, horizontal range, maximum height, and Reynolds Number range</a:t>
            </a:r>
          </a:p>
          <a:p>
            <a:pPr lvl="2">
              <a:buFont typeface="Arial" panose="020B0604020202020204" pitchFamily="34" charset="0"/>
              <a:buChar char="•"/>
            </a:pPr>
            <a:r>
              <a:rPr lang="en-US" sz="1600" dirty="0"/>
              <a:t>Vacuum trajectory time of flight, horizontal range, and maximum height</a:t>
            </a:r>
          </a:p>
          <a:p>
            <a:pPr lvl="1">
              <a:buFont typeface="Arial" panose="020B0604020202020204" pitchFamily="34" charset="0"/>
              <a:buChar char="•"/>
            </a:pPr>
            <a:r>
              <a:rPr lang="en-US" sz="2000" dirty="0"/>
              <a:t>Plots of…</a:t>
            </a:r>
          </a:p>
          <a:p>
            <a:pPr lvl="2">
              <a:buFont typeface="Arial" panose="020B0604020202020204" pitchFamily="34" charset="0"/>
              <a:buChar char="•"/>
            </a:pPr>
            <a:r>
              <a:rPr lang="en-US" sz="1600" dirty="0"/>
              <a:t>Drag coefficient vs Reynolds Number data points and piecewise linear curve fit of points</a:t>
            </a:r>
          </a:p>
          <a:p>
            <a:pPr lvl="2">
              <a:buFont typeface="Arial" panose="020B0604020202020204" pitchFamily="34" charset="0"/>
              <a:buChar char="•"/>
            </a:pPr>
            <a:r>
              <a:rPr lang="en-US" sz="1600" dirty="0"/>
              <a:t>Baseball trajectory, both within vacuum (air density = 0) and within the atmosphere</a:t>
            </a:r>
          </a:p>
          <a:p>
            <a:pPr lvl="3">
              <a:buFont typeface="Arial" panose="020B0604020202020204" pitchFamily="34" charset="0"/>
              <a:buChar char="•"/>
            </a:pPr>
            <a:r>
              <a:rPr lang="en-US" sz="1600" dirty="0"/>
              <a:t>The vacuum trajectory has an exact solution</a:t>
            </a:r>
          </a:p>
          <a:p>
            <a:pPr lvl="3">
              <a:buFont typeface="Arial" panose="020B0604020202020204" pitchFamily="34" charset="0"/>
              <a:buChar char="•"/>
            </a:pPr>
            <a:r>
              <a:rPr lang="en-US" sz="1600" dirty="0"/>
              <a:t>The Newton drag trajectory requires solving a system of Ordinary Differential Equations</a:t>
            </a:r>
          </a:p>
        </p:txBody>
      </p:sp>
    </p:spTree>
    <p:extLst>
      <p:ext uri="{BB962C8B-B14F-4D97-AF65-F5344CB8AC3E}">
        <p14:creationId xmlns:p14="http://schemas.microsoft.com/office/powerpoint/2010/main" val="2879144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720B7-EC3F-D087-8A36-FA233CB0A508}"/>
              </a:ext>
            </a:extLst>
          </p:cNvPr>
          <p:cNvSpPr>
            <a:spLocks noGrp="1"/>
          </p:cNvSpPr>
          <p:nvPr>
            <p:ph type="title"/>
          </p:nvPr>
        </p:nvSpPr>
        <p:spPr/>
        <p:txBody>
          <a:bodyPr/>
          <a:lstStyle/>
          <a:p>
            <a:br>
              <a:rPr lang="en-US" dirty="0"/>
            </a:br>
            <a:r>
              <a:rPr lang="en-US" dirty="0"/>
              <a:t>Projectile Motion in a Vacuum</a:t>
            </a:r>
          </a:p>
        </p:txBody>
      </p:sp>
      <p:sp>
        <p:nvSpPr>
          <p:cNvPr id="3" name="Content Placeholder 2">
            <a:extLst>
              <a:ext uri="{FF2B5EF4-FFF2-40B4-BE49-F238E27FC236}">
                <a16:creationId xmlns:a16="http://schemas.microsoft.com/office/drawing/2014/main" id="{7C65C2D6-E5DF-764C-DEA4-552DF32AFFE8}"/>
              </a:ext>
            </a:extLst>
          </p:cNvPr>
          <p:cNvSpPr>
            <a:spLocks noGrp="1"/>
          </p:cNvSpPr>
          <p:nvPr>
            <p:ph idx="1"/>
          </p:nvPr>
        </p:nvSpPr>
        <p:spPr>
          <a:xfrm>
            <a:off x="367555" y="1960516"/>
            <a:ext cx="4675806" cy="3301765"/>
          </a:xfrm>
        </p:spPr>
        <p:txBody>
          <a:bodyPr>
            <a:normAutofit/>
          </a:bodyPr>
          <a:lstStyle/>
          <a:p>
            <a:pPr>
              <a:buFont typeface="Arial" panose="020B0604020202020204" pitchFamily="34" charset="0"/>
              <a:buChar char="•"/>
            </a:pPr>
            <a:r>
              <a:rPr lang="en-US" dirty="0"/>
              <a:t>Projectile motion through a vacuum (air density is zero) and in a homogenous gravity field (gravity always pointing downward) has an analytical solution, specifically, the trajectory is a parabola</a:t>
            </a:r>
          </a:p>
          <a:p>
            <a:pPr>
              <a:buFont typeface="Arial" panose="020B0604020202020204" pitchFamily="34" charset="0"/>
              <a:buChar char="•"/>
            </a:pPr>
            <a:r>
              <a:rPr lang="en-US" dirty="0"/>
              <a:t>The solution requires an initial launch speed and an initial launch angle</a:t>
            </a:r>
          </a:p>
        </p:txBody>
      </p:sp>
      <p:grpSp>
        <p:nvGrpSpPr>
          <p:cNvPr id="7" name="Group 6">
            <a:extLst>
              <a:ext uri="{FF2B5EF4-FFF2-40B4-BE49-F238E27FC236}">
                <a16:creationId xmlns:a16="http://schemas.microsoft.com/office/drawing/2014/main" id="{A85A8C85-94AB-4603-E818-BFDD75E72E56}"/>
              </a:ext>
            </a:extLst>
          </p:cNvPr>
          <p:cNvGrpSpPr/>
          <p:nvPr/>
        </p:nvGrpSpPr>
        <p:grpSpPr>
          <a:xfrm>
            <a:off x="5167075" y="1960516"/>
            <a:ext cx="3976925" cy="3170881"/>
            <a:chOff x="4971644" y="1949759"/>
            <a:chExt cx="3976925" cy="3170881"/>
          </a:xfrm>
        </p:grpSpPr>
        <p:pic>
          <p:nvPicPr>
            <p:cNvPr id="1026" name="Picture 2">
              <a:extLst>
                <a:ext uri="{FF2B5EF4-FFF2-40B4-BE49-F238E27FC236}">
                  <a16:creationId xmlns:a16="http://schemas.microsoft.com/office/drawing/2014/main" id="{0651248C-DE25-FC2F-01BF-4FD896DDF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1644" y="2167933"/>
              <a:ext cx="3976925" cy="2814917"/>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A47A626-26B7-8BCB-60E3-2866DE299539}"/>
                </a:ext>
              </a:extLst>
            </p:cNvPr>
            <p:cNvSpPr txBox="1"/>
            <p:nvPr/>
          </p:nvSpPr>
          <p:spPr>
            <a:xfrm>
              <a:off x="5959543" y="1949759"/>
              <a:ext cx="2001125" cy="369332"/>
            </a:xfrm>
            <a:prstGeom prst="rect">
              <a:avLst/>
            </a:prstGeom>
            <a:noFill/>
          </p:spPr>
          <p:txBody>
            <a:bodyPr wrap="none" rtlCol="0">
              <a:spAutoFit/>
            </a:bodyPr>
            <a:lstStyle/>
            <a:p>
              <a:r>
                <a:rPr lang="en-US" dirty="0"/>
                <a:t>Free body diagram:</a:t>
              </a:r>
            </a:p>
          </p:txBody>
        </p:sp>
        <p:sp>
          <p:nvSpPr>
            <p:cNvPr id="6" name="Rectangle 5">
              <a:extLst>
                <a:ext uri="{FF2B5EF4-FFF2-40B4-BE49-F238E27FC236}">
                  <a16:creationId xmlns:a16="http://schemas.microsoft.com/office/drawing/2014/main" id="{9340F8BC-1CEF-AFAE-F683-D32C922B5F77}"/>
                </a:ext>
              </a:extLst>
            </p:cNvPr>
            <p:cNvSpPr/>
            <p:nvPr/>
          </p:nvSpPr>
          <p:spPr>
            <a:xfrm>
              <a:off x="5065059" y="1949759"/>
              <a:ext cx="3639670" cy="317088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03307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720B7-EC3F-D087-8A36-FA233CB0A508}"/>
              </a:ext>
            </a:extLst>
          </p:cNvPr>
          <p:cNvSpPr>
            <a:spLocks noGrp="1"/>
          </p:cNvSpPr>
          <p:nvPr>
            <p:ph type="title"/>
          </p:nvPr>
        </p:nvSpPr>
        <p:spPr/>
        <p:txBody>
          <a:bodyPr/>
          <a:lstStyle/>
          <a:p>
            <a:br>
              <a:rPr lang="en-US" dirty="0"/>
            </a:br>
            <a:r>
              <a:rPr lang="en-US" dirty="0"/>
              <a:t>Projectile Motion in a Vacuum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65C2D6-E5DF-764C-DEA4-552DF32AFFE8}"/>
                  </a:ext>
                </a:extLst>
              </p:cNvPr>
              <p:cNvSpPr>
                <a:spLocks noGrp="1"/>
              </p:cNvSpPr>
              <p:nvPr>
                <p:ph idx="1"/>
              </p:nvPr>
            </p:nvSpPr>
            <p:spPr>
              <a:xfrm>
                <a:off x="195431" y="1737361"/>
                <a:ext cx="4941345" cy="4778281"/>
              </a:xfrm>
            </p:spPr>
            <p:txBody>
              <a:bodyPr>
                <a:normAutofit fontScale="85000" lnSpcReduction="20000"/>
              </a:bodyPr>
              <a:lstStyle/>
              <a:p>
                <a:pPr>
                  <a:buFont typeface="Arial" panose="020B0604020202020204" pitchFamily="34" charset="0"/>
                  <a:buChar char="•"/>
                </a:pPr>
                <a:r>
                  <a:rPr lang="en-US" dirty="0"/>
                  <a:t>Force on a projectile given by:</a:t>
                </a:r>
              </a:p>
              <a:p>
                <a:pPr marL="292608" indent="0">
                  <a:buNone/>
                </a:pPr>
                <a:r>
                  <a:rPr lang="en-US" dirty="0"/>
                  <a:t>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r>
                      <a:rPr lang="en-US" b="0" i="1" smtClean="0">
                        <a:latin typeface="Cambria Math" panose="02040503050406030204" pitchFamily="18" charset="0"/>
                      </a:rPr>
                      <m:t>=−</m:t>
                    </m:r>
                    <m:r>
                      <a:rPr lang="en-US" b="0" i="1" smtClean="0">
                        <a:latin typeface="Cambria Math" panose="02040503050406030204" pitchFamily="18" charset="0"/>
                      </a:rPr>
                      <m:t>𝑚</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𝑔</m:t>
                        </m:r>
                      </m:sub>
                    </m:sSub>
                  </m:oMath>
                </a14:m>
                <a:r>
                  <a:rPr lang="en-US" dirty="0"/>
                  <a:t> </a:t>
                </a:r>
              </a:p>
              <a:p>
                <a:pPr>
                  <a:buFont typeface="Arial" panose="020B0604020202020204" pitchFamily="34" charset="0"/>
                  <a:buChar char="•"/>
                </a:pPr>
                <a:r>
                  <a:rPr lang="en-US" dirty="0"/>
                  <a:t>Acceleration given by Newton’s 2</a:t>
                </a:r>
                <a:r>
                  <a:rPr lang="en-US" baseline="30000" dirty="0"/>
                  <a:t>nd</a:t>
                </a:r>
                <a:r>
                  <a:rPr lang="en-US" dirty="0"/>
                  <a:t> law: </a:t>
                </a:r>
              </a:p>
              <a:p>
                <a:pPr marL="292608"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𝑚𝑎</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𝐹</m:t>
                          </m:r>
                        </m:num>
                        <m:den>
                          <m:r>
                            <a:rPr lang="en-US" b="0" i="1" smtClean="0">
                              <a:latin typeface="Cambria Math" panose="02040503050406030204" pitchFamily="18" charset="0"/>
                              <a:ea typeface="Cambria Math" panose="02040503050406030204" pitchFamily="18" charset="0"/>
                            </a:rPr>
                            <m:t>𝑎</m:t>
                          </m:r>
                        </m:den>
                      </m:f>
                    </m:oMath>
                  </m:oMathPara>
                </a14:m>
                <a:endParaRPr lang="en-US" dirty="0"/>
              </a:p>
              <a:p>
                <a:pPr marL="292608" lvl="1">
                  <a:buNone/>
                </a:pPr>
                <a14:m>
                  <m:oMathPara xmlns:m="http://schemas.openxmlformats.org/officeDocument/2006/math">
                    <m:oMathParaPr>
                      <m:jc m:val="left"/>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𝑔</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𝑗</m:t>
                          </m:r>
                        </m:e>
                      </m:acc>
                    </m:oMath>
                  </m:oMathPara>
                </a14:m>
                <a:endParaRPr lang="en-US" b="0" dirty="0"/>
              </a:p>
              <a:p>
                <a:pPr>
                  <a:buFont typeface="Arial" panose="020B0604020202020204" pitchFamily="34" charset="0"/>
                  <a:buChar char="•"/>
                </a:pPr>
                <a:r>
                  <a:rPr lang="en-US" b="0" dirty="0"/>
                  <a:t>Velocity found by integrating acceleration </a:t>
                </a:r>
                <a:r>
                  <a:rPr lang="en-US" b="0" dirty="0" err="1"/>
                  <a:t>w.r.t.</a:t>
                </a:r>
                <a:r>
                  <a:rPr lang="en-US" b="0" dirty="0"/>
                  <a:t> time and use of the initial velocity vector</a:t>
                </a:r>
              </a:p>
              <a:p>
                <a:pPr marL="292608"/>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0</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𝜃</m:t>
                            </m:r>
                          </m:e>
                        </m:d>
                      </m:e>
                    </m:func>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𝑖</m:t>
                        </m:r>
                      </m:e>
                    </m:ac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0</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𝜃</m:t>
                            </m:r>
                          </m:e>
                        </m:d>
                      </m:e>
                    </m:func>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𝑔</m:t>
                        </m:r>
                      </m:sub>
                    </m:s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𝑗</m:t>
                        </m:r>
                      </m:e>
                    </m:acc>
                  </m:oMath>
                </a14:m>
                <a:endParaRPr lang="en-US" b="0" dirty="0"/>
              </a:p>
              <a:p>
                <a:pPr marL="292608">
                  <a:spcAft>
                    <a:spcPts val="0"/>
                  </a:spcAft>
                </a:pPr>
                <a:r>
                  <a:rPr lang="en-US" dirty="0"/>
                  <a:t>where</a:t>
                </a:r>
              </a:p>
              <a:p>
                <a:pPr marL="292608">
                  <a:spcAft>
                    <a:spcPts val="0"/>
                  </a:spcAft>
                </a:pPr>
                <a14:m>
                  <m:oMath xmlns:m="http://schemas.openxmlformats.org/officeDocument/2006/math">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𝑙𝑎𝑢𝑛𝑐h</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𝑎𝑛𝑔𝑙𝑒</m:t>
                    </m:r>
                  </m:oMath>
                </a14:m>
                <a:endParaRPr lang="en-US" b="0" i="1" dirty="0">
                  <a:latin typeface="Cambria Math" panose="02040503050406030204" pitchFamily="18" charset="0"/>
                  <a:ea typeface="Cambria Math" panose="02040503050406030204" pitchFamily="18" charset="0"/>
                </a:endParaRPr>
              </a:p>
              <a:p>
                <a:pPr marL="292608">
                  <a:spcAft>
                    <a:spcPts val="0"/>
                  </a:spcAft>
                </a:pP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𝑙𝑎𝑢𝑛𝑐h</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𝑠𝑝𝑒𝑒𝑑</m:t>
                    </m:r>
                  </m:oMath>
                </a14:m>
                <a:endParaRPr lang="en-US" b="0" dirty="0"/>
              </a:p>
              <a:p>
                <a:pPr>
                  <a:buFont typeface="Arial" panose="020B0604020202020204" pitchFamily="34" charset="0"/>
                  <a:buChar char="•"/>
                </a:pPr>
                <a:r>
                  <a:rPr lang="en-US" dirty="0"/>
                  <a:t>Displacement found by integrating velocity </a:t>
                </a:r>
                <a:r>
                  <a:rPr lang="en-US" dirty="0" err="1"/>
                  <a:t>w.r.t.</a:t>
                </a:r>
                <a:r>
                  <a:rPr lang="en-US" dirty="0"/>
                  <a:t> time</a:t>
                </a:r>
              </a:p>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0</m:t>
                        </m:r>
                      </m:sub>
                    </m:sSub>
                    <m:r>
                      <a:rPr lang="en-US" b="0" i="1" smtClean="0">
                        <a:latin typeface="Cambria Math" panose="02040503050406030204" pitchFamily="18" charset="0"/>
                      </a:rPr>
                      <m:t>𝑡𝑐𝑜𝑠</m:t>
                    </m:r>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𝑖</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0</m:t>
                        </m:r>
                      </m:sub>
                    </m:sSub>
                    <m:r>
                      <a:rPr lang="en-US" i="1">
                        <a:latin typeface="Cambria Math" panose="02040503050406030204" pitchFamily="18" charset="0"/>
                      </a:rPr>
                      <m:t>𝑡</m:t>
                    </m:r>
                    <m:func>
                      <m:funcPr>
                        <m:ctrlPr>
                          <a:rPr lang="en-US" i="1">
                            <a:latin typeface="Cambria Math" panose="02040503050406030204" pitchFamily="18" charset="0"/>
                          </a:rPr>
                        </m:ctrlPr>
                      </m:funcPr>
                      <m:fName>
                        <m:r>
                          <m:rPr>
                            <m:sty m:val="p"/>
                          </m:rPr>
                          <a:rPr lang="en-US">
                            <a:latin typeface="Cambria Math" panose="02040503050406030204" pitchFamily="18" charset="0"/>
                          </a:rPr>
                          <m:t>sin</m:t>
                        </m:r>
                      </m:fName>
                      <m:e>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𝜃</m:t>
                            </m:r>
                          </m:e>
                        </m:d>
                      </m:e>
                    </m:func>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𝑔</m:t>
                        </m:r>
                      </m:sub>
                    </m:sSub>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𝑗</m:t>
                        </m:r>
                      </m:e>
                    </m:acc>
                  </m:oMath>
                </a14:m>
                <a:endParaRPr lang="en-US" b="0" i="1" dirty="0">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7C65C2D6-E5DF-764C-DEA4-552DF32AFFE8}"/>
                  </a:ext>
                </a:extLst>
              </p:cNvPr>
              <p:cNvSpPr>
                <a:spLocks noGrp="1" noRot="1" noChangeAspect="1" noMove="1" noResize="1" noEditPoints="1" noAdjustHandles="1" noChangeArrowheads="1" noChangeShapeType="1" noTextEdit="1"/>
              </p:cNvSpPr>
              <p:nvPr>
                <p:ph idx="1"/>
              </p:nvPr>
            </p:nvSpPr>
            <p:spPr>
              <a:xfrm>
                <a:off x="195431" y="1737361"/>
                <a:ext cx="4941345" cy="4778281"/>
              </a:xfrm>
              <a:blipFill>
                <a:blip r:embed="rId2"/>
                <a:stretch>
                  <a:fillRect l="-2466" t="-1786"/>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A85A8C85-94AB-4603-E818-BFDD75E72E56}"/>
              </a:ext>
            </a:extLst>
          </p:cNvPr>
          <p:cNvGrpSpPr/>
          <p:nvPr/>
        </p:nvGrpSpPr>
        <p:grpSpPr>
          <a:xfrm>
            <a:off x="5043361" y="1960517"/>
            <a:ext cx="3976925" cy="3170881"/>
            <a:chOff x="4971644" y="1949759"/>
            <a:chExt cx="3976925" cy="3170881"/>
          </a:xfrm>
        </p:grpSpPr>
        <p:pic>
          <p:nvPicPr>
            <p:cNvPr id="1026" name="Picture 2">
              <a:extLst>
                <a:ext uri="{FF2B5EF4-FFF2-40B4-BE49-F238E27FC236}">
                  <a16:creationId xmlns:a16="http://schemas.microsoft.com/office/drawing/2014/main" id="{0651248C-DE25-FC2F-01BF-4FD896DDF5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1644" y="2167933"/>
              <a:ext cx="3976925" cy="2814917"/>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A47A626-26B7-8BCB-60E3-2866DE299539}"/>
                </a:ext>
              </a:extLst>
            </p:cNvPr>
            <p:cNvSpPr txBox="1"/>
            <p:nvPr/>
          </p:nvSpPr>
          <p:spPr>
            <a:xfrm>
              <a:off x="5959543" y="1949759"/>
              <a:ext cx="2001125" cy="369332"/>
            </a:xfrm>
            <a:prstGeom prst="rect">
              <a:avLst/>
            </a:prstGeom>
            <a:noFill/>
          </p:spPr>
          <p:txBody>
            <a:bodyPr wrap="none" rtlCol="0">
              <a:spAutoFit/>
            </a:bodyPr>
            <a:lstStyle/>
            <a:p>
              <a:r>
                <a:rPr lang="en-US" dirty="0"/>
                <a:t>Free body diagram:</a:t>
              </a:r>
            </a:p>
          </p:txBody>
        </p:sp>
        <p:sp>
          <p:nvSpPr>
            <p:cNvPr id="6" name="Rectangle 5">
              <a:extLst>
                <a:ext uri="{FF2B5EF4-FFF2-40B4-BE49-F238E27FC236}">
                  <a16:creationId xmlns:a16="http://schemas.microsoft.com/office/drawing/2014/main" id="{9340F8BC-1CEF-AFAE-F683-D32C922B5F77}"/>
                </a:ext>
              </a:extLst>
            </p:cNvPr>
            <p:cNvSpPr/>
            <p:nvPr/>
          </p:nvSpPr>
          <p:spPr>
            <a:xfrm>
              <a:off x="5065059" y="1949759"/>
              <a:ext cx="3639670" cy="317088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873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br>
              <a:rPr lang="en-US" dirty="0"/>
            </a:br>
            <a:r>
              <a:rPr lang="en-US" dirty="0"/>
              <a:t>Projectile Motion through Air</a:t>
            </a:r>
          </a:p>
        </p:txBody>
      </p:sp>
      <p:sp>
        <p:nvSpPr>
          <p:cNvPr id="3" name="Content Placeholder 2">
            <a:extLst>
              <a:ext uri="{FF2B5EF4-FFF2-40B4-BE49-F238E27FC236}">
                <a16:creationId xmlns:a16="http://schemas.microsoft.com/office/drawing/2014/main" id="{E83C7201-D6B8-BCF1-810D-07247365EFBC}"/>
              </a:ext>
            </a:extLst>
          </p:cNvPr>
          <p:cNvSpPr>
            <a:spLocks noGrp="1"/>
          </p:cNvSpPr>
          <p:nvPr>
            <p:ph idx="1"/>
          </p:nvPr>
        </p:nvSpPr>
        <p:spPr>
          <a:xfrm>
            <a:off x="822960" y="1845733"/>
            <a:ext cx="7720404" cy="2233208"/>
          </a:xfrm>
        </p:spPr>
        <p:txBody>
          <a:bodyPr>
            <a:normAutofit/>
          </a:bodyPr>
          <a:lstStyle/>
          <a:p>
            <a:r>
              <a:rPr lang="en-US" sz="2800" dirty="0"/>
              <a:t>As an object moves through the air, the air resists the motion of the object. </a:t>
            </a:r>
          </a:p>
          <a:p>
            <a:r>
              <a:rPr lang="en-US" sz="2800" dirty="0"/>
              <a:t>This resistance is called aerodynamic drag, and is the component of the aerodynamic force that is aligned and opposite to the flight direction:</a:t>
            </a:r>
          </a:p>
        </p:txBody>
      </p:sp>
      <p:grpSp>
        <p:nvGrpSpPr>
          <p:cNvPr id="38" name="Group 37">
            <a:extLst>
              <a:ext uri="{FF2B5EF4-FFF2-40B4-BE49-F238E27FC236}">
                <a16:creationId xmlns:a16="http://schemas.microsoft.com/office/drawing/2014/main" id="{FA36B46C-EA49-6E23-7E22-05209A77AF6C}"/>
              </a:ext>
            </a:extLst>
          </p:cNvPr>
          <p:cNvGrpSpPr/>
          <p:nvPr/>
        </p:nvGrpSpPr>
        <p:grpSpPr>
          <a:xfrm>
            <a:off x="3264313" y="3935239"/>
            <a:ext cx="2343952" cy="2320075"/>
            <a:chOff x="1623772" y="3917309"/>
            <a:chExt cx="2343952" cy="2320075"/>
          </a:xfrm>
        </p:grpSpPr>
        <p:grpSp>
          <p:nvGrpSpPr>
            <p:cNvPr id="35" name="Group 34">
              <a:extLst>
                <a:ext uri="{FF2B5EF4-FFF2-40B4-BE49-F238E27FC236}">
                  <a16:creationId xmlns:a16="http://schemas.microsoft.com/office/drawing/2014/main" id="{B0FF9499-8546-BD55-BDB2-33C822585F2B}"/>
                </a:ext>
              </a:extLst>
            </p:cNvPr>
            <p:cNvGrpSpPr/>
            <p:nvPr/>
          </p:nvGrpSpPr>
          <p:grpSpPr>
            <a:xfrm>
              <a:off x="1699130" y="4220554"/>
              <a:ext cx="2165813" cy="1959002"/>
              <a:chOff x="1699130" y="4220554"/>
              <a:chExt cx="2165813" cy="1959002"/>
            </a:xfrm>
          </p:grpSpPr>
          <p:sp>
            <p:nvSpPr>
              <p:cNvPr id="4" name="Oval 3">
                <a:extLst>
                  <a:ext uri="{FF2B5EF4-FFF2-40B4-BE49-F238E27FC236}">
                    <a16:creationId xmlns:a16="http://schemas.microsoft.com/office/drawing/2014/main" id="{6F6A1547-A0D5-FB98-6828-375685676DCD}"/>
                  </a:ext>
                </a:extLst>
              </p:cNvPr>
              <p:cNvSpPr/>
              <p:nvPr/>
            </p:nvSpPr>
            <p:spPr>
              <a:xfrm>
                <a:off x="2805953" y="4608720"/>
                <a:ext cx="439271" cy="439271"/>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54437FA1-E4D2-C76F-9C6C-1D1D590C3EE6}"/>
                  </a:ext>
                </a:extLst>
              </p:cNvPr>
              <p:cNvCxnSpPr>
                <a:cxnSpLocks/>
              </p:cNvCxnSpPr>
              <p:nvPr/>
            </p:nvCxnSpPr>
            <p:spPr>
              <a:xfrm flipV="1">
                <a:off x="3025588" y="4463494"/>
                <a:ext cx="515471" cy="364861"/>
              </a:xfrm>
              <a:prstGeom prst="straightConnector1">
                <a:avLst/>
              </a:prstGeom>
              <a:ln w="41275">
                <a:solidFill>
                  <a:srgbClr val="0070C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C2B4453-0867-DEBD-CC11-E1B665A75931}"/>
                  </a:ext>
                </a:extLst>
              </p:cNvPr>
              <p:cNvCxnSpPr>
                <a:cxnSpLocks/>
              </p:cNvCxnSpPr>
              <p:nvPr/>
            </p:nvCxnSpPr>
            <p:spPr>
              <a:xfrm>
                <a:off x="3025588" y="4828355"/>
                <a:ext cx="0" cy="555812"/>
              </a:xfrm>
              <a:prstGeom prst="straightConnector1">
                <a:avLst/>
              </a:prstGeom>
              <a:ln w="41275">
                <a:solidFill>
                  <a:srgbClr val="00B05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92B5E5F-E52F-C65D-D212-E201D2E3BBBF}"/>
                  </a:ext>
                </a:extLst>
              </p:cNvPr>
              <p:cNvCxnSpPr>
                <a:cxnSpLocks/>
              </p:cNvCxnSpPr>
              <p:nvPr/>
            </p:nvCxnSpPr>
            <p:spPr>
              <a:xfrm flipH="1">
                <a:off x="2644589" y="4828355"/>
                <a:ext cx="380999" cy="277906"/>
              </a:xfrm>
              <a:prstGeom prst="straightConnector1">
                <a:avLst/>
              </a:prstGeom>
              <a:ln w="41275">
                <a:solidFill>
                  <a:srgbClr val="92D05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995EBE8-ABA8-A648-25DB-D770651DFC78}"/>
                  </a:ext>
                </a:extLst>
              </p:cNvPr>
              <p:cNvCxnSpPr>
                <a:cxnSpLocks/>
              </p:cNvCxnSpPr>
              <p:nvPr/>
            </p:nvCxnSpPr>
            <p:spPr>
              <a:xfrm flipV="1">
                <a:off x="1958012" y="5113864"/>
                <a:ext cx="0" cy="72345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6444CF2-B4C1-2EA7-6E24-823306172190}"/>
                  </a:ext>
                </a:extLst>
              </p:cNvPr>
              <p:cNvCxnSpPr>
                <a:cxnSpLocks/>
              </p:cNvCxnSpPr>
              <p:nvPr/>
            </p:nvCxnSpPr>
            <p:spPr>
              <a:xfrm>
                <a:off x="1958012" y="5837314"/>
                <a:ext cx="692748"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DFCC245-9264-D4BF-A66F-F707A0B47F3F}"/>
                  </a:ext>
                </a:extLst>
              </p:cNvPr>
              <p:cNvCxnSpPr>
                <a:cxnSpLocks/>
              </p:cNvCxnSpPr>
              <p:nvPr/>
            </p:nvCxnSpPr>
            <p:spPr>
              <a:xfrm>
                <a:off x="1958012" y="5837314"/>
                <a:ext cx="346374" cy="0"/>
              </a:xfrm>
              <a:prstGeom prst="straightConnector1">
                <a:avLst/>
              </a:prstGeom>
              <a:ln w="28575">
                <a:solidFill>
                  <a:srgbClr val="FFC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01055D5-8ED4-9E8A-335D-1FD26C4C7252}"/>
                  </a:ext>
                </a:extLst>
              </p:cNvPr>
              <p:cNvCxnSpPr>
                <a:cxnSpLocks/>
              </p:cNvCxnSpPr>
              <p:nvPr/>
            </p:nvCxnSpPr>
            <p:spPr>
              <a:xfrm flipH="1" flipV="1">
                <a:off x="1958011" y="5475589"/>
                <a:ext cx="1" cy="361725"/>
              </a:xfrm>
              <a:prstGeom prst="straightConnector1">
                <a:avLst/>
              </a:prstGeom>
              <a:ln w="28575">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761AEC2-3A1A-68DE-185D-7143D5AD013C}"/>
                      </a:ext>
                    </a:extLst>
                  </p:cNvPr>
                  <p:cNvSpPr txBox="1"/>
                  <p:nvPr/>
                </p:nvSpPr>
                <p:spPr>
                  <a:xfrm>
                    <a:off x="2303672" y="4925398"/>
                    <a:ext cx="290977" cy="3105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𝑑</m:t>
                                  </m:r>
                                </m:sub>
                              </m:sSub>
                            </m:e>
                          </m:acc>
                        </m:oMath>
                      </m:oMathPara>
                    </a14:m>
                    <a:endParaRPr lang="en-US" dirty="0"/>
                  </a:p>
                </p:txBody>
              </p:sp>
            </mc:Choice>
            <mc:Fallback xmlns="">
              <p:sp>
                <p:nvSpPr>
                  <p:cNvPr id="28" name="TextBox 27">
                    <a:extLst>
                      <a:ext uri="{FF2B5EF4-FFF2-40B4-BE49-F238E27FC236}">
                        <a16:creationId xmlns:a16="http://schemas.microsoft.com/office/drawing/2014/main" id="{2761AEC2-3A1A-68DE-185D-7143D5AD013C}"/>
                      </a:ext>
                    </a:extLst>
                  </p:cNvPr>
                  <p:cNvSpPr txBox="1">
                    <a:spLocks noRot="1" noChangeAspect="1" noMove="1" noResize="1" noEditPoints="1" noAdjustHandles="1" noChangeArrowheads="1" noChangeShapeType="1" noTextEdit="1"/>
                  </p:cNvSpPr>
                  <p:nvPr/>
                </p:nvSpPr>
                <p:spPr>
                  <a:xfrm>
                    <a:off x="2303672" y="4925398"/>
                    <a:ext cx="290977" cy="310598"/>
                  </a:xfrm>
                  <a:prstGeom prst="rect">
                    <a:avLst/>
                  </a:prstGeom>
                  <a:blipFill>
                    <a:blip r:embed="rId2"/>
                    <a:stretch>
                      <a:fillRect l="-18750" r="-6250"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8997297-2D1C-4375-DB6A-9737C3A0A0A5}"/>
                      </a:ext>
                    </a:extLst>
                  </p:cNvPr>
                  <p:cNvSpPr txBox="1"/>
                  <p:nvPr/>
                </p:nvSpPr>
                <p:spPr>
                  <a:xfrm>
                    <a:off x="2862169" y="5448503"/>
                    <a:ext cx="1002774" cy="3395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e>
                          </m:acc>
                          <m:r>
                            <a:rPr lang="en-US" b="0" i="1" smtClean="0">
                              <a:latin typeface="Cambria Math" panose="02040503050406030204" pitchFamily="18" charset="0"/>
                            </a:rPr>
                            <m:t>=</m:t>
                          </m:r>
                          <m:r>
                            <a:rPr lang="en-US" b="0" i="1" smtClean="0">
                              <a:latin typeface="Cambria Math" panose="02040503050406030204" pitchFamily="18" charset="0"/>
                            </a:rPr>
                            <m:t>𝑚</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e>
                            <m:sub>
                              <m:r>
                                <a:rPr lang="en-US" b="0" i="1" smtClean="0">
                                  <a:latin typeface="Cambria Math" panose="02040503050406030204" pitchFamily="18" charset="0"/>
                                </a:rPr>
                                <m:t>𝑔</m:t>
                              </m:r>
                            </m:sub>
                          </m:sSub>
                        </m:oMath>
                      </m:oMathPara>
                    </a14:m>
                    <a:endParaRPr lang="en-US" dirty="0"/>
                  </a:p>
                </p:txBody>
              </p:sp>
            </mc:Choice>
            <mc:Fallback xmlns="">
              <p:sp>
                <p:nvSpPr>
                  <p:cNvPr id="29" name="TextBox 28">
                    <a:extLst>
                      <a:ext uri="{FF2B5EF4-FFF2-40B4-BE49-F238E27FC236}">
                        <a16:creationId xmlns:a16="http://schemas.microsoft.com/office/drawing/2014/main" id="{68997297-2D1C-4375-DB6A-9737C3A0A0A5}"/>
                      </a:ext>
                    </a:extLst>
                  </p:cNvPr>
                  <p:cNvSpPr txBox="1">
                    <a:spLocks noRot="1" noChangeAspect="1" noMove="1" noResize="1" noEditPoints="1" noAdjustHandles="1" noChangeArrowheads="1" noChangeShapeType="1" noTextEdit="1"/>
                  </p:cNvSpPr>
                  <p:nvPr/>
                </p:nvSpPr>
                <p:spPr>
                  <a:xfrm>
                    <a:off x="2862169" y="5448503"/>
                    <a:ext cx="1002774" cy="339517"/>
                  </a:xfrm>
                  <a:prstGeom prst="rect">
                    <a:avLst/>
                  </a:prstGeom>
                  <a:blipFill>
                    <a:blip r:embed="rId3"/>
                    <a:stretch>
                      <a:fillRect l="-5488" t="-9091" r="-1829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D6990B2-1636-B249-1B14-A92FCEF3928C}"/>
                      </a:ext>
                    </a:extLst>
                  </p:cNvPr>
                  <p:cNvSpPr txBox="1"/>
                  <p:nvPr/>
                </p:nvSpPr>
                <p:spPr>
                  <a:xfrm>
                    <a:off x="3576028" y="4220554"/>
                    <a:ext cx="1846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𝑣</m:t>
                              </m:r>
                            </m:e>
                          </m:acc>
                        </m:oMath>
                      </m:oMathPara>
                    </a14:m>
                    <a:endParaRPr lang="en-US" dirty="0"/>
                  </a:p>
                </p:txBody>
              </p:sp>
            </mc:Choice>
            <mc:Fallback xmlns="">
              <p:sp>
                <p:nvSpPr>
                  <p:cNvPr id="30" name="TextBox 29">
                    <a:extLst>
                      <a:ext uri="{FF2B5EF4-FFF2-40B4-BE49-F238E27FC236}">
                        <a16:creationId xmlns:a16="http://schemas.microsoft.com/office/drawing/2014/main" id="{9D6990B2-1636-B249-1B14-A92FCEF3928C}"/>
                      </a:ext>
                    </a:extLst>
                  </p:cNvPr>
                  <p:cNvSpPr txBox="1">
                    <a:spLocks noRot="1" noChangeAspect="1" noMove="1" noResize="1" noEditPoints="1" noAdjustHandles="1" noChangeArrowheads="1" noChangeShapeType="1" noTextEdit="1"/>
                  </p:cNvSpPr>
                  <p:nvPr/>
                </p:nvSpPr>
                <p:spPr>
                  <a:xfrm>
                    <a:off x="3576028" y="4220554"/>
                    <a:ext cx="184666" cy="276999"/>
                  </a:xfrm>
                  <a:prstGeom prst="rect">
                    <a:avLst/>
                  </a:prstGeom>
                  <a:blipFill>
                    <a:blip r:embed="rId4"/>
                    <a:stretch>
                      <a:fillRect l="-20000" t="-23913" r="-7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90F77A4-6DE9-A0F1-5387-9FD953EF29DB}"/>
                      </a:ext>
                    </a:extLst>
                  </p:cNvPr>
                  <p:cNvSpPr txBox="1"/>
                  <p:nvPr/>
                </p:nvSpPr>
                <p:spPr>
                  <a:xfrm>
                    <a:off x="2202071" y="5902557"/>
                    <a:ext cx="1277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𝑖</m:t>
                              </m:r>
                            </m:e>
                          </m:acc>
                        </m:oMath>
                      </m:oMathPara>
                    </a14:m>
                    <a:endParaRPr lang="en-US" dirty="0"/>
                  </a:p>
                </p:txBody>
              </p:sp>
            </mc:Choice>
            <mc:Fallback xmlns="">
              <p:sp>
                <p:nvSpPr>
                  <p:cNvPr id="31" name="TextBox 30">
                    <a:extLst>
                      <a:ext uri="{FF2B5EF4-FFF2-40B4-BE49-F238E27FC236}">
                        <a16:creationId xmlns:a16="http://schemas.microsoft.com/office/drawing/2014/main" id="{890F77A4-6DE9-A0F1-5387-9FD953EF29DB}"/>
                      </a:ext>
                    </a:extLst>
                  </p:cNvPr>
                  <p:cNvSpPr txBox="1">
                    <a:spLocks noRot="1" noChangeAspect="1" noMove="1" noResize="1" noEditPoints="1" noAdjustHandles="1" noChangeArrowheads="1" noChangeShapeType="1" noTextEdit="1"/>
                  </p:cNvSpPr>
                  <p:nvPr/>
                </p:nvSpPr>
                <p:spPr>
                  <a:xfrm>
                    <a:off x="2202071" y="5902557"/>
                    <a:ext cx="127791" cy="276999"/>
                  </a:xfrm>
                  <a:prstGeom prst="rect">
                    <a:avLst/>
                  </a:prstGeom>
                  <a:blipFill>
                    <a:blip r:embed="rId5"/>
                    <a:stretch>
                      <a:fillRect l="-28571" t="-23913" r="-1476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1DB500A-2670-549B-B9F8-8B37E5236DF6}"/>
                      </a:ext>
                    </a:extLst>
                  </p:cNvPr>
                  <p:cNvSpPr txBox="1"/>
                  <p:nvPr/>
                </p:nvSpPr>
                <p:spPr>
                  <a:xfrm>
                    <a:off x="1719665" y="5421362"/>
                    <a:ext cx="1384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𝑗</m:t>
                              </m:r>
                            </m:e>
                          </m:acc>
                        </m:oMath>
                      </m:oMathPara>
                    </a14:m>
                    <a:endParaRPr lang="en-US" dirty="0"/>
                  </a:p>
                </p:txBody>
              </p:sp>
            </mc:Choice>
            <mc:Fallback xmlns="">
              <p:sp>
                <p:nvSpPr>
                  <p:cNvPr id="32" name="TextBox 31">
                    <a:extLst>
                      <a:ext uri="{FF2B5EF4-FFF2-40B4-BE49-F238E27FC236}">
                        <a16:creationId xmlns:a16="http://schemas.microsoft.com/office/drawing/2014/main" id="{11DB500A-2670-549B-B9F8-8B37E5236DF6}"/>
                      </a:ext>
                    </a:extLst>
                  </p:cNvPr>
                  <p:cNvSpPr txBox="1">
                    <a:spLocks noRot="1" noChangeAspect="1" noMove="1" noResize="1" noEditPoints="1" noAdjustHandles="1" noChangeArrowheads="1" noChangeShapeType="1" noTextEdit="1"/>
                  </p:cNvSpPr>
                  <p:nvPr/>
                </p:nvSpPr>
                <p:spPr>
                  <a:xfrm>
                    <a:off x="1719665" y="5421362"/>
                    <a:ext cx="138499" cy="276999"/>
                  </a:xfrm>
                  <a:prstGeom prst="rect">
                    <a:avLst/>
                  </a:prstGeom>
                  <a:blipFill>
                    <a:blip r:embed="rId6"/>
                    <a:stretch>
                      <a:fillRect l="-43478" t="-23913" r="-143478"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0743761-0BA7-86CC-BEFE-FA4E4A2929B7}"/>
                      </a:ext>
                    </a:extLst>
                  </p:cNvPr>
                  <p:cNvSpPr txBox="1"/>
                  <p:nvPr/>
                </p:nvSpPr>
                <p:spPr>
                  <a:xfrm>
                    <a:off x="2612428" y="5811750"/>
                    <a:ext cx="1833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33" name="TextBox 32">
                    <a:extLst>
                      <a:ext uri="{FF2B5EF4-FFF2-40B4-BE49-F238E27FC236}">
                        <a16:creationId xmlns:a16="http://schemas.microsoft.com/office/drawing/2014/main" id="{80743761-0BA7-86CC-BEFE-FA4E4A2929B7}"/>
                      </a:ext>
                    </a:extLst>
                  </p:cNvPr>
                  <p:cNvSpPr txBox="1">
                    <a:spLocks noRot="1" noChangeAspect="1" noMove="1" noResize="1" noEditPoints="1" noAdjustHandles="1" noChangeArrowheads="1" noChangeShapeType="1" noTextEdit="1"/>
                  </p:cNvSpPr>
                  <p:nvPr/>
                </p:nvSpPr>
                <p:spPr>
                  <a:xfrm>
                    <a:off x="2612428" y="5811750"/>
                    <a:ext cx="183320" cy="276999"/>
                  </a:xfrm>
                  <a:prstGeom prst="rect">
                    <a:avLst/>
                  </a:prstGeom>
                  <a:blipFill>
                    <a:blip r:embed="rId7"/>
                    <a:stretch>
                      <a:fillRect l="-20000" r="-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F857A9B-20AD-A25D-CD9F-45BDC87B6E5E}"/>
                      </a:ext>
                    </a:extLst>
                  </p:cNvPr>
                  <p:cNvSpPr txBox="1"/>
                  <p:nvPr/>
                </p:nvSpPr>
                <p:spPr>
                  <a:xfrm>
                    <a:off x="1699130" y="4975364"/>
                    <a:ext cx="18671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n-US" dirty="0"/>
                  </a:p>
                </p:txBody>
              </p:sp>
            </mc:Choice>
            <mc:Fallback xmlns="">
              <p:sp>
                <p:nvSpPr>
                  <p:cNvPr id="34" name="TextBox 33">
                    <a:extLst>
                      <a:ext uri="{FF2B5EF4-FFF2-40B4-BE49-F238E27FC236}">
                        <a16:creationId xmlns:a16="http://schemas.microsoft.com/office/drawing/2014/main" id="{DF857A9B-20AD-A25D-CD9F-45BDC87B6E5E}"/>
                      </a:ext>
                    </a:extLst>
                  </p:cNvPr>
                  <p:cNvSpPr txBox="1">
                    <a:spLocks noRot="1" noChangeAspect="1" noMove="1" noResize="1" noEditPoints="1" noAdjustHandles="1" noChangeArrowheads="1" noChangeShapeType="1" noTextEdit="1"/>
                  </p:cNvSpPr>
                  <p:nvPr/>
                </p:nvSpPr>
                <p:spPr>
                  <a:xfrm>
                    <a:off x="1699130" y="4975364"/>
                    <a:ext cx="186718" cy="276999"/>
                  </a:xfrm>
                  <a:prstGeom prst="rect">
                    <a:avLst/>
                  </a:prstGeom>
                  <a:blipFill>
                    <a:blip r:embed="rId8"/>
                    <a:stretch>
                      <a:fillRect l="-33333" r="-30000" b="-23913"/>
                    </a:stretch>
                  </a:blipFill>
                </p:spPr>
                <p:txBody>
                  <a:bodyPr/>
                  <a:lstStyle/>
                  <a:p>
                    <a:r>
                      <a:rPr lang="en-US">
                        <a:noFill/>
                      </a:rPr>
                      <a:t> </a:t>
                    </a:r>
                  </a:p>
                </p:txBody>
              </p:sp>
            </mc:Fallback>
          </mc:AlternateContent>
        </p:grpSp>
        <p:sp>
          <p:nvSpPr>
            <p:cNvPr id="36" name="TextBox 35">
              <a:extLst>
                <a:ext uri="{FF2B5EF4-FFF2-40B4-BE49-F238E27FC236}">
                  <a16:creationId xmlns:a16="http://schemas.microsoft.com/office/drawing/2014/main" id="{6D4289EB-68CE-C78A-289E-A61AC82C5B84}"/>
                </a:ext>
              </a:extLst>
            </p:cNvPr>
            <p:cNvSpPr txBox="1"/>
            <p:nvPr/>
          </p:nvSpPr>
          <p:spPr>
            <a:xfrm>
              <a:off x="1817276" y="3917309"/>
              <a:ext cx="2001125" cy="369332"/>
            </a:xfrm>
            <a:prstGeom prst="rect">
              <a:avLst/>
            </a:prstGeom>
            <a:noFill/>
          </p:spPr>
          <p:txBody>
            <a:bodyPr wrap="none" rtlCol="0">
              <a:spAutoFit/>
            </a:bodyPr>
            <a:lstStyle/>
            <a:p>
              <a:r>
                <a:rPr lang="en-US" dirty="0"/>
                <a:t>Free body diagram:</a:t>
              </a:r>
            </a:p>
          </p:txBody>
        </p:sp>
        <p:sp>
          <p:nvSpPr>
            <p:cNvPr id="37" name="Flowchart: Process 36">
              <a:extLst>
                <a:ext uri="{FF2B5EF4-FFF2-40B4-BE49-F238E27FC236}">
                  <a16:creationId xmlns:a16="http://schemas.microsoft.com/office/drawing/2014/main" id="{3CDA6554-FD15-E333-8F49-EC9EE6970B65}"/>
                </a:ext>
              </a:extLst>
            </p:cNvPr>
            <p:cNvSpPr/>
            <p:nvPr/>
          </p:nvSpPr>
          <p:spPr>
            <a:xfrm>
              <a:off x="1623772" y="3975137"/>
              <a:ext cx="2343952" cy="2262247"/>
            </a:xfrm>
            <a:prstGeom prst="flowChartProcess">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525328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br>
              <a:rPr lang="en-US" dirty="0"/>
            </a:br>
            <a:r>
              <a:rPr lang="en-US" dirty="0"/>
              <a:t>Projectile Motion through Air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3C7201-D6B8-BCF1-810D-07247365EFBC}"/>
                  </a:ext>
                </a:extLst>
              </p:cNvPr>
              <p:cNvSpPr>
                <a:spLocks noGrp="1"/>
              </p:cNvSpPr>
              <p:nvPr>
                <p:ph idx="1"/>
              </p:nvPr>
            </p:nvSpPr>
            <p:spPr>
              <a:xfrm>
                <a:off x="822959" y="1845733"/>
                <a:ext cx="7543801" cy="4725663"/>
              </a:xfrm>
            </p:spPr>
            <p:txBody>
              <a:bodyPr>
                <a:normAutofit/>
              </a:bodyPr>
              <a:lstStyle/>
              <a:p>
                <a:r>
                  <a:rPr lang="en-US" dirty="0"/>
                  <a:t>The force on a projectile is given by:</a:t>
                </a:r>
              </a:p>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𝑑</m:t>
                        </m:r>
                      </m:sub>
                    </m:sSub>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num>
                      <m:den>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d>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𝑗</m:t>
                        </m:r>
                      </m:e>
                    </m:acc>
                  </m:oMath>
                </a14:m>
                <a:endParaRPr lang="en-US" b="0" dirty="0"/>
              </a:p>
              <a:p>
                <a:r>
                  <a:rPr lang="en-US" dirty="0"/>
                  <a:t>where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𝑑</m:t>
                        </m:r>
                      </m:sub>
                    </m:sSub>
                    <m:r>
                      <a:rPr lang="en-US" b="0" i="1" smtClean="0">
                        <a:latin typeface="Cambria Math" panose="02040503050406030204" pitchFamily="18" charset="0"/>
                      </a:rPr>
                      <m:t> </m:t>
                    </m:r>
                  </m:oMath>
                </a14:m>
                <a:r>
                  <a:rPr lang="en-US" dirty="0"/>
                  <a:t>= force due to air drag</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oMath>
                </a14:m>
                <a:r>
                  <a:rPr lang="en-US" dirty="0"/>
                  <a:t> = force due to gravity =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ma</m:t>
                        </m:r>
                      </m:e>
                      <m:sub>
                        <m:r>
                          <m:rPr>
                            <m:sty m:val="p"/>
                          </m:rPr>
                          <a:rPr lang="en-US" b="0" i="0" smtClean="0">
                            <a:latin typeface="Cambria Math" panose="02040503050406030204" pitchFamily="18" charset="0"/>
                          </a:rPr>
                          <m:t>g</m:t>
                        </m:r>
                      </m:sub>
                    </m:sSub>
                  </m:oMath>
                </a14:m>
                <a:endParaRPr lang="en-US" dirty="0"/>
              </a:p>
              <a:p>
                <a14:m>
                  <m:oMath xmlns:m="http://schemas.openxmlformats.org/officeDocument/2006/math">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num>
                      <m:den>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e>
                        </m:d>
                      </m:den>
                    </m:f>
                  </m:oMath>
                </a14:m>
                <a:r>
                  <a:rPr lang="en-US" dirty="0"/>
                  <a:t> = norm of the velocity vector, i.e., a vector in the direction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oMath>
                </a14:m>
                <a:r>
                  <a:rPr lang="en-US" dirty="0"/>
                  <a:t> </a:t>
                </a:r>
              </a:p>
              <a:p>
                <a:r>
                  <a:rPr lang="en-US" dirty="0"/>
                  <a:t>        having magnitude of 1</a:t>
                </a:r>
              </a:p>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𝑗</m:t>
                        </m:r>
                      </m:e>
                    </m:acc>
                  </m:oMath>
                </a14:m>
                <a:r>
                  <a:rPr lang="en-US" dirty="0"/>
                  <a:t> = unit vector in the y-direction, i.e., vector pointing up having a</a:t>
                </a:r>
              </a:p>
              <a:p>
                <a:r>
                  <a:rPr lang="en-US" dirty="0"/>
                  <a:t>      magnitude of 1</a:t>
                </a:r>
              </a:p>
            </p:txBody>
          </p:sp>
        </mc:Choice>
        <mc:Fallback xmlns="">
          <p:sp>
            <p:nvSpPr>
              <p:cNvPr id="3" name="Content Placeholder 2">
                <a:extLst>
                  <a:ext uri="{FF2B5EF4-FFF2-40B4-BE49-F238E27FC236}">
                    <a16:creationId xmlns:a16="http://schemas.microsoft.com/office/drawing/2014/main" id="{E83C7201-D6B8-BCF1-810D-07247365EFBC}"/>
                  </a:ext>
                </a:extLst>
              </p:cNvPr>
              <p:cNvSpPr>
                <a:spLocks noGrp="1" noRot="1" noChangeAspect="1" noMove="1" noResize="1" noEditPoints="1" noAdjustHandles="1" noChangeArrowheads="1" noChangeShapeType="1" noTextEdit="1"/>
              </p:cNvSpPr>
              <p:nvPr>
                <p:ph idx="1"/>
              </p:nvPr>
            </p:nvSpPr>
            <p:spPr>
              <a:xfrm>
                <a:off x="822959" y="1845733"/>
                <a:ext cx="7543801" cy="4725663"/>
              </a:xfrm>
              <a:blipFill>
                <a:blip r:embed="rId2"/>
                <a:stretch>
                  <a:fillRect l="-808" t="-141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03F0E74F-2668-6CA4-1BE0-871CBB45B65E}"/>
              </a:ext>
            </a:extLst>
          </p:cNvPr>
          <p:cNvGrpSpPr/>
          <p:nvPr/>
        </p:nvGrpSpPr>
        <p:grpSpPr>
          <a:xfrm>
            <a:off x="5451701" y="1888489"/>
            <a:ext cx="2343952" cy="2320075"/>
            <a:chOff x="1623772" y="3917309"/>
            <a:chExt cx="2343952" cy="2320075"/>
          </a:xfrm>
        </p:grpSpPr>
        <p:grpSp>
          <p:nvGrpSpPr>
            <p:cNvPr id="5" name="Group 4">
              <a:extLst>
                <a:ext uri="{FF2B5EF4-FFF2-40B4-BE49-F238E27FC236}">
                  <a16:creationId xmlns:a16="http://schemas.microsoft.com/office/drawing/2014/main" id="{3FD0F4D3-848C-CB98-6553-871CA23665CA}"/>
                </a:ext>
              </a:extLst>
            </p:cNvPr>
            <p:cNvGrpSpPr/>
            <p:nvPr/>
          </p:nvGrpSpPr>
          <p:grpSpPr>
            <a:xfrm>
              <a:off x="1699130" y="4220554"/>
              <a:ext cx="2165813" cy="1959002"/>
              <a:chOff x="1699130" y="4220554"/>
              <a:chExt cx="2165813" cy="1959002"/>
            </a:xfrm>
          </p:grpSpPr>
          <p:sp>
            <p:nvSpPr>
              <p:cNvPr id="9" name="Oval 8">
                <a:extLst>
                  <a:ext uri="{FF2B5EF4-FFF2-40B4-BE49-F238E27FC236}">
                    <a16:creationId xmlns:a16="http://schemas.microsoft.com/office/drawing/2014/main" id="{6F838E37-5D36-0B24-B43C-B3D3CA0D5DC9}"/>
                  </a:ext>
                </a:extLst>
              </p:cNvPr>
              <p:cNvSpPr/>
              <p:nvPr/>
            </p:nvSpPr>
            <p:spPr>
              <a:xfrm>
                <a:off x="2805953" y="4608720"/>
                <a:ext cx="439271" cy="439271"/>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DA35D2CB-D2FC-015E-F846-C6E05B1F7A7E}"/>
                  </a:ext>
                </a:extLst>
              </p:cNvPr>
              <p:cNvCxnSpPr>
                <a:cxnSpLocks/>
              </p:cNvCxnSpPr>
              <p:nvPr/>
            </p:nvCxnSpPr>
            <p:spPr>
              <a:xfrm flipV="1">
                <a:off x="3025588" y="4463494"/>
                <a:ext cx="515471" cy="364861"/>
              </a:xfrm>
              <a:prstGeom prst="straightConnector1">
                <a:avLst/>
              </a:prstGeom>
              <a:ln w="41275">
                <a:solidFill>
                  <a:srgbClr val="0070C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ECAB906-C044-F1C4-9492-568F589BEF67}"/>
                  </a:ext>
                </a:extLst>
              </p:cNvPr>
              <p:cNvCxnSpPr>
                <a:cxnSpLocks/>
              </p:cNvCxnSpPr>
              <p:nvPr/>
            </p:nvCxnSpPr>
            <p:spPr>
              <a:xfrm>
                <a:off x="3025588" y="4828355"/>
                <a:ext cx="0" cy="555812"/>
              </a:xfrm>
              <a:prstGeom prst="straightConnector1">
                <a:avLst/>
              </a:prstGeom>
              <a:ln w="41275">
                <a:solidFill>
                  <a:srgbClr val="00B05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AD2C16-9CC3-0441-3480-81DE4719FA87}"/>
                  </a:ext>
                </a:extLst>
              </p:cNvPr>
              <p:cNvCxnSpPr>
                <a:cxnSpLocks/>
              </p:cNvCxnSpPr>
              <p:nvPr/>
            </p:nvCxnSpPr>
            <p:spPr>
              <a:xfrm flipH="1">
                <a:off x="2644589" y="4828355"/>
                <a:ext cx="380999" cy="277906"/>
              </a:xfrm>
              <a:prstGeom prst="straightConnector1">
                <a:avLst/>
              </a:prstGeom>
              <a:ln w="41275">
                <a:solidFill>
                  <a:srgbClr val="92D05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831454A-90F7-9FAF-A3B8-A301F5C9C3B3}"/>
                  </a:ext>
                </a:extLst>
              </p:cNvPr>
              <p:cNvCxnSpPr>
                <a:cxnSpLocks/>
              </p:cNvCxnSpPr>
              <p:nvPr/>
            </p:nvCxnSpPr>
            <p:spPr>
              <a:xfrm flipV="1">
                <a:off x="1958012" y="5113864"/>
                <a:ext cx="0" cy="72345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DFAC857-59AF-1FCE-54BC-AE1B0B8AF3F3}"/>
                  </a:ext>
                </a:extLst>
              </p:cNvPr>
              <p:cNvCxnSpPr>
                <a:cxnSpLocks/>
              </p:cNvCxnSpPr>
              <p:nvPr/>
            </p:nvCxnSpPr>
            <p:spPr>
              <a:xfrm>
                <a:off x="1958012" y="5837314"/>
                <a:ext cx="692748"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6A9FB12-AEA0-A6B2-15AB-EB6617A38FC9}"/>
                  </a:ext>
                </a:extLst>
              </p:cNvPr>
              <p:cNvCxnSpPr>
                <a:cxnSpLocks/>
              </p:cNvCxnSpPr>
              <p:nvPr/>
            </p:nvCxnSpPr>
            <p:spPr>
              <a:xfrm>
                <a:off x="1958012" y="5837314"/>
                <a:ext cx="346374" cy="0"/>
              </a:xfrm>
              <a:prstGeom prst="straightConnector1">
                <a:avLst/>
              </a:prstGeom>
              <a:ln w="28575">
                <a:solidFill>
                  <a:srgbClr val="FFC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607C0C0-3142-A8AA-2322-A85EFB0021A8}"/>
                  </a:ext>
                </a:extLst>
              </p:cNvPr>
              <p:cNvCxnSpPr>
                <a:cxnSpLocks/>
              </p:cNvCxnSpPr>
              <p:nvPr/>
            </p:nvCxnSpPr>
            <p:spPr>
              <a:xfrm flipH="1" flipV="1">
                <a:off x="1958011" y="5475589"/>
                <a:ext cx="1" cy="361725"/>
              </a:xfrm>
              <a:prstGeom prst="straightConnector1">
                <a:avLst/>
              </a:prstGeom>
              <a:ln w="28575">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AD571D8-814D-27E3-93A1-0174D4B8D4AC}"/>
                      </a:ext>
                    </a:extLst>
                  </p:cNvPr>
                  <p:cNvSpPr txBox="1"/>
                  <p:nvPr/>
                </p:nvSpPr>
                <p:spPr>
                  <a:xfrm>
                    <a:off x="2303672" y="4925398"/>
                    <a:ext cx="290977" cy="3105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𝑑</m:t>
                                  </m:r>
                                </m:sub>
                              </m:sSub>
                            </m:e>
                          </m:acc>
                        </m:oMath>
                      </m:oMathPara>
                    </a14:m>
                    <a:endParaRPr lang="en-US" dirty="0"/>
                  </a:p>
                </p:txBody>
              </p:sp>
            </mc:Choice>
            <mc:Fallback xmlns="">
              <p:sp>
                <p:nvSpPr>
                  <p:cNvPr id="17" name="TextBox 16">
                    <a:extLst>
                      <a:ext uri="{FF2B5EF4-FFF2-40B4-BE49-F238E27FC236}">
                        <a16:creationId xmlns:a16="http://schemas.microsoft.com/office/drawing/2014/main" id="{5AD571D8-814D-27E3-93A1-0174D4B8D4AC}"/>
                      </a:ext>
                    </a:extLst>
                  </p:cNvPr>
                  <p:cNvSpPr txBox="1">
                    <a:spLocks noRot="1" noChangeAspect="1" noMove="1" noResize="1" noEditPoints="1" noAdjustHandles="1" noChangeArrowheads="1" noChangeShapeType="1" noTextEdit="1"/>
                  </p:cNvSpPr>
                  <p:nvPr/>
                </p:nvSpPr>
                <p:spPr>
                  <a:xfrm>
                    <a:off x="2303672" y="4925398"/>
                    <a:ext cx="290977" cy="310598"/>
                  </a:xfrm>
                  <a:prstGeom prst="rect">
                    <a:avLst/>
                  </a:prstGeom>
                  <a:blipFill>
                    <a:blip r:embed="rId3"/>
                    <a:stretch>
                      <a:fillRect l="-20833" r="-6250"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E239B2D-971F-2B8F-1AE0-ACF94FBC60C7}"/>
                      </a:ext>
                    </a:extLst>
                  </p:cNvPr>
                  <p:cNvSpPr txBox="1"/>
                  <p:nvPr/>
                </p:nvSpPr>
                <p:spPr>
                  <a:xfrm>
                    <a:off x="2862169" y="5448503"/>
                    <a:ext cx="1002774" cy="3395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e>
                          </m:acc>
                          <m:r>
                            <a:rPr lang="en-US" b="0" i="1" smtClean="0">
                              <a:latin typeface="Cambria Math" panose="02040503050406030204" pitchFamily="18" charset="0"/>
                            </a:rPr>
                            <m:t>=</m:t>
                          </m:r>
                          <m:r>
                            <a:rPr lang="en-US" b="0" i="1" smtClean="0">
                              <a:latin typeface="Cambria Math" panose="02040503050406030204" pitchFamily="18" charset="0"/>
                            </a:rPr>
                            <m:t>𝑚</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e>
                            <m:sub>
                              <m:r>
                                <a:rPr lang="en-US" b="0" i="1" smtClean="0">
                                  <a:latin typeface="Cambria Math" panose="02040503050406030204" pitchFamily="18" charset="0"/>
                                </a:rPr>
                                <m:t>𝑔</m:t>
                              </m:r>
                            </m:sub>
                          </m:sSub>
                        </m:oMath>
                      </m:oMathPara>
                    </a14:m>
                    <a:endParaRPr lang="en-US" dirty="0"/>
                  </a:p>
                </p:txBody>
              </p:sp>
            </mc:Choice>
            <mc:Fallback xmlns="">
              <p:sp>
                <p:nvSpPr>
                  <p:cNvPr id="18" name="TextBox 17">
                    <a:extLst>
                      <a:ext uri="{FF2B5EF4-FFF2-40B4-BE49-F238E27FC236}">
                        <a16:creationId xmlns:a16="http://schemas.microsoft.com/office/drawing/2014/main" id="{7E239B2D-971F-2B8F-1AE0-ACF94FBC60C7}"/>
                      </a:ext>
                    </a:extLst>
                  </p:cNvPr>
                  <p:cNvSpPr txBox="1">
                    <a:spLocks noRot="1" noChangeAspect="1" noMove="1" noResize="1" noEditPoints="1" noAdjustHandles="1" noChangeArrowheads="1" noChangeShapeType="1" noTextEdit="1"/>
                  </p:cNvSpPr>
                  <p:nvPr/>
                </p:nvSpPr>
                <p:spPr>
                  <a:xfrm>
                    <a:off x="2862169" y="5448503"/>
                    <a:ext cx="1002774" cy="339517"/>
                  </a:xfrm>
                  <a:prstGeom prst="rect">
                    <a:avLst/>
                  </a:prstGeom>
                  <a:blipFill>
                    <a:blip r:embed="rId4"/>
                    <a:stretch>
                      <a:fillRect l="-4848" t="-8929" r="-18182" b="-17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2B937E1-0DE2-2180-243D-37F43CC29D15}"/>
                      </a:ext>
                    </a:extLst>
                  </p:cNvPr>
                  <p:cNvSpPr txBox="1"/>
                  <p:nvPr/>
                </p:nvSpPr>
                <p:spPr>
                  <a:xfrm>
                    <a:off x="3576028" y="4220554"/>
                    <a:ext cx="1846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𝑣</m:t>
                              </m:r>
                            </m:e>
                          </m:acc>
                        </m:oMath>
                      </m:oMathPara>
                    </a14:m>
                    <a:endParaRPr lang="en-US" dirty="0"/>
                  </a:p>
                </p:txBody>
              </p:sp>
            </mc:Choice>
            <mc:Fallback xmlns="">
              <p:sp>
                <p:nvSpPr>
                  <p:cNvPr id="19" name="TextBox 18">
                    <a:extLst>
                      <a:ext uri="{FF2B5EF4-FFF2-40B4-BE49-F238E27FC236}">
                        <a16:creationId xmlns:a16="http://schemas.microsoft.com/office/drawing/2014/main" id="{72B937E1-0DE2-2180-243D-37F43CC29D15}"/>
                      </a:ext>
                    </a:extLst>
                  </p:cNvPr>
                  <p:cNvSpPr txBox="1">
                    <a:spLocks noRot="1" noChangeAspect="1" noMove="1" noResize="1" noEditPoints="1" noAdjustHandles="1" noChangeArrowheads="1" noChangeShapeType="1" noTextEdit="1"/>
                  </p:cNvSpPr>
                  <p:nvPr/>
                </p:nvSpPr>
                <p:spPr>
                  <a:xfrm>
                    <a:off x="3576028" y="4220554"/>
                    <a:ext cx="184666" cy="276999"/>
                  </a:xfrm>
                  <a:prstGeom prst="rect">
                    <a:avLst/>
                  </a:prstGeom>
                  <a:blipFill>
                    <a:blip r:embed="rId5"/>
                    <a:stretch>
                      <a:fillRect l="-20000" t="-26667" r="-7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CE63D2A-3770-5E4B-9702-03552B388657}"/>
                      </a:ext>
                    </a:extLst>
                  </p:cNvPr>
                  <p:cNvSpPr txBox="1"/>
                  <p:nvPr/>
                </p:nvSpPr>
                <p:spPr>
                  <a:xfrm>
                    <a:off x="2202071" y="5902557"/>
                    <a:ext cx="1277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𝑖</m:t>
                              </m:r>
                            </m:e>
                          </m:acc>
                        </m:oMath>
                      </m:oMathPara>
                    </a14:m>
                    <a:endParaRPr lang="en-US" dirty="0"/>
                  </a:p>
                </p:txBody>
              </p:sp>
            </mc:Choice>
            <mc:Fallback xmlns="">
              <p:sp>
                <p:nvSpPr>
                  <p:cNvPr id="20" name="TextBox 19">
                    <a:extLst>
                      <a:ext uri="{FF2B5EF4-FFF2-40B4-BE49-F238E27FC236}">
                        <a16:creationId xmlns:a16="http://schemas.microsoft.com/office/drawing/2014/main" id="{6CE63D2A-3770-5E4B-9702-03552B388657}"/>
                      </a:ext>
                    </a:extLst>
                  </p:cNvPr>
                  <p:cNvSpPr txBox="1">
                    <a:spLocks noRot="1" noChangeAspect="1" noMove="1" noResize="1" noEditPoints="1" noAdjustHandles="1" noChangeArrowheads="1" noChangeShapeType="1" noTextEdit="1"/>
                  </p:cNvSpPr>
                  <p:nvPr/>
                </p:nvSpPr>
                <p:spPr>
                  <a:xfrm>
                    <a:off x="2202071" y="5902557"/>
                    <a:ext cx="127791" cy="276999"/>
                  </a:xfrm>
                  <a:prstGeom prst="rect">
                    <a:avLst/>
                  </a:prstGeom>
                  <a:blipFill>
                    <a:blip r:embed="rId6"/>
                    <a:stretch>
                      <a:fillRect l="-28571" t="-23913" r="-1476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E7700F-09C3-B0B9-D2F4-31CE998D3DAA}"/>
                      </a:ext>
                    </a:extLst>
                  </p:cNvPr>
                  <p:cNvSpPr txBox="1"/>
                  <p:nvPr/>
                </p:nvSpPr>
                <p:spPr>
                  <a:xfrm>
                    <a:off x="1719665" y="5421362"/>
                    <a:ext cx="1384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𝑗</m:t>
                              </m:r>
                            </m:e>
                          </m:acc>
                        </m:oMath>
                      </m:oMathPara>
                    </a14:m>
                    <a:endParaRPr lang="en-US" dirty="0"/>
                  </a:p>
                </p:txBody>
              </p:sp>
            </mc:Choice>
            <mc:Fallback xmlns="">
              <p:sp>
                <p:nvSpPr>
                  <p:cNvPr id="21" name="TextBox 20">
                    <a:extLst>
                      <a:ext uri="{FF2B5EF4-FFF2-40B4-BE49-F238E27FC236}">
                        <a16:creationId xmlns:a16="http://schemas.microsoft.com/office/drawing/2014/main" id="{6BE7700F-09C3-B0B9-D2F4-31CE998D3DAA}"/>
                      </a:ext>
                    </a:extLst>
                  </p:cNvPr>
                  <p:cNvSpPr txBox="1">
                    <a:spLocks noRot="1" noChangeAspect="1" noMove="1" noResize="1" noEditPoints="1" noAdjustHandles="1" noChangeArrowheads="1" noChangeShapeType="1" noTextEdit="1"/>
                  </p:cNvSpPr>
                  <p:nvPr/>
                </p:nvSpPr>
                <p:spPr>
                  <a:xfrm>
                    <a:off x="1719665" y="5421362"/>
                    <a:ext cx="138499" cy="276999"/>
                  </a:xfrm>
                  <a:prstGeom prst="rect">
                    <a:avLst/>
                  </a:prstGeom>
                  <a:blipFill>
                    <a:blip r:embed="rId7"/>
                    <a:stretch>
                      <a:fillRect l="-43478" t="-26667" r="-143478"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5FC6CCF-3C4E-EB61-5269-998EF5102D2B}"/>
                      </a:ext>
                    </a:extLst>
                  </p:cNvPr>
                  <p:cNvSpPr txBox="1"/>
                  <p:nvPr/>
                </p:nvSpPr>
                <p:spPr>
                  <a:xfrm>
                    <a:off x="2612428" y="5811750"/>
                    <a:ext cx="1833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22" name="TextBox 21">
                    <a:extLst>
                      <a:ext uri="{FF2B5EF4-FFF2-40B4-BE49-F238E27FC236}">
                        <a16:creationId xmlns:a16="http://schemas.microsoft.com/office/drawing/2014/main" id="{E5FC6CCF-3C4E-EB61-5269-998EF5102D2B}"/>
                      </a:ext>
                    </a:extLst>
                  </p:cNvPr>
                  <p:cNvSpPr txBox="1">
                    <a:spLocks noRot="1" noChangeAspect="1" noMove="1" noResize="1" noEditPoints="1" noAdjustHandles="1" noChangeArrowheads="1" noChangeShapeType="1" noTextEdit="1"/>
                  </p:cNvSpPr>
                  <p:nvPr/>
                </p:nvSpPr>
                <p:spPr>
                  <a:xfrm>
                    <a:off x="2612428" y="5811750"/>
                    <a:ext cx="183320" cy="276999"/>
                  </a:xfrm>
                  <a:prstGeom prst="rect">
                    <a:avLst/>
                  </a:prstGeom>
                  <a:blipFill>
                    <a:blip r:embed="rId8"/>
                    <a:stretch>
                      <a:fillRect l="-19355" r="-96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49C4925-2C33-1425-7839-1042B795C165}"/>
                      </a:ext>
                    </a:extLst>
                  </p:cNvPr>
                  <p:cNvSpPr txBox="1"/>
                  <p:nvPr/>
                </p:nvSpPr>
                <p:spPr>
                  <a:xfrm>
                    <a:off x="1699130" y="4975364"/>
                    <a:ext cx="18671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n-US" dirty="0"/>
                  </a:p>
                </p:txBody>
              </p:sp>
            </mc:Choice>
            <mc:Fallback xmlns="">
              <p:sp>
                <p:nvSpPr>
                  <p:cNvPr id="23" name="TextBox 22">
                    <a:extLst>
                      <a:ext uri="{FF2B5EF4-FFF2-40B4-BE49-F238E27FC236}">
                        <a16:creationId xmlns:a16="http://schemas.microsoft.com/office/drawing/2014/main" id="{149C4925-2C33-1425-7839-1042B795C165}"/>
                      </a:ext>
                    </a:extLst>
                  </p:cNvPr>
                  <p:cNvSpPr txBox="1">
                    <a:spLocks noRot="1" noChangeAspect="1" noMove="1" noResize="1" noEditPoints="1" noAdjustHandles="1" noChangeArrowheads="1" noChangeShapeType="1" noTextEdit="1"/>
                  </p:cNvSpPr>
                  <p:nvPr/>
                </p:nvSpPr>
                <p:spPr>
                  <a:xfrm>
                    <a:off x="1699130" y="4975364"/>
                    <a:ext cx="186718" cy="276999"/>
                  </a:xfrm>
                  <a:prstGeom prst="rect">
                    <a:avLst/>
                  </a:prstGeom>
                  <a:blipFill>
                    <a:blip r:embed="rId9"/>
                    <a:stretch>
                      <a:fillRect l="-33333" r="-30000" b="-23913"/>
                    </a:stretch>
                  </a:blipFill>
                </p:spPr>
                <p:txBody>
                  <a:bodyPr/>
                  <a:lstStyle/>
                  <a:p>
                    <a:r>
                      <a:rPr lang="en-US">
                        <a:noFill/>
                      </a:rPr>
                      <a:t> </a:t>
                    </a:r>
                  </a:p>
                </p:txBody>
              </p:sp>
            </mc:Fallback>
          </mc:AlternateContent>
        </p:grpSp>
        <p:sp>
          <p:nvSpPr>
            <p:cNvPr id="6" name="TextBox 5">
              <a:extLst>
                <a:ext uri="{FF2B5EF4-FFF2-40B4-BE49-F238E27FC236}">
                  <a16:creationId xmlns:a16="http://schemas.microsoft.com/office/drawing/2014/main" id="{B8F92AF3-CF12-ED83-BECA-AB18D14242BC}"/>
                </a:ext>
              </a:extLst>
            </p:cNvPr>
            <p:cNvSpPr txBox="1"/>
            <p:nvPr/>
          </p:nvSpPr>
          <p:spPr>
            <a:xfrm>
              <a:off x="1817276" y="3917309"/>
              <a:ext cx="2001125" cy="369332"/>
            </a:xfrm>
            <a:prstGeom prst="rect">
              <a:avLst/>
            </a:prstGeom>
            <a:noFill/>
          </p:spPr>
          <p:txBody>
            <a:bodyPr wrap="none" rtlCol="0">
              <a:spAutoFit/>
            </a:bodyPr>
            <a:lstStyle/>
            <a:p>
              <a:r>
                <a:rPr lang="en-US" dirty="0"/>
                <a:t>Free body diagram:</a:t>
              </a:r>
            </a:p>
          </p:txBody>
        </p:sp>
        <p:sp>
          <p:nvSpPr>
            <p:cNvPr id="8" name="Flowchart: Process 7">
              <a:extLst>
                <a:ext uri="{FF2B5EF4-FFF2-40B4-BE49-F238E27FC236}">
                  <a16:creationId xmlns:a16="http://schemas.microsoft.com/office/drawing/2014/main" id="{2A9B142C-5AE0-EFB7-0F78-C32D5EEF2FDF}"/>
                </a:ext>
              </a:extLst>
            </p:cNvPr>
            <p:cNvSpPr/>
            <p:nvPr/>
          </p:nvSpPr>
          <p:spPr>
            <a:xfrm>
              <a:off x="1623772" y="3975137"/>
              <a:ext cx="2343952" cy="2262247"/>
            </a:xfrm>
            <a:prstGeom prst="flowChartProcess">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84424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r>
              <a:rPr lang="en-US" dirty="0"/>
              <a:t>Projectile Motion through Air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D66F19C-7473-DFB8-5B53-D574E1F3D247}"/>
                  </a:ext>
                </a:extLst>
              </p:cNvPr>
              <p:cNvSpPr txBox="1"/>
              <p:nvPr/>
            </p:nvSpPr>
            <p:spPr>
              <a:xfrm>
                <a:off x="510988" y="1844148"/>
                <a:ext cx="7845913" cy="1631216"/>
              </a:xfrm>
              <a:prstGeom prst="rect">
                <a:avLst/>
              </a:prstGeom>
              <a:noFill/>
            </p:spPr>
            <p:txBody>
              <a:bodyPr wrap="square">
                <a:spAutoFit/>
              </a:bodyPr>
              <a:lstStyle/>
              <a:p>
                <a:r>
                  <a:rPr lang="en-US" sz="2000" dirty="0"/>
                  <a:t>Sir Isaac Newton made experiments to determine the nature of fluid resistance on a sphere and found that it is proportional to the square of the object's speed through the fluid, </a:t>
                </a:r>
                <a14:m>
                  <m:oMath xmlns:m="http://schemas.openxmlformats.org/officeDocument/2006/math">
                    <m:sSup>
                      <m:sSupPr>
                        <m:ctrlPr>
                          <a:rPr lang="en-US" sz="2000" b="0" i="1" smtClean="0">
                            <a:latin typeface="Cambria Math" panose="02040503050406030204" pitchFamily="18" charset="0"/>
                          </a:rPr>
                        </m:ctrlPr>
                      </m:sSupPr>
                      <m:e>
                        <m:d>
                          <m:dPr>
                            <m:begChr m:val="|"/>
                            <m:endChr m:val="|"/>
                            <m:ctrlPr>
                              <a:rPr lang="en-US" sz="2000" i="1" smtClean="0">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𝑣</m:t>
                                </m:r>
                              </m:e>
                            </m:acc>
                          </m:e>
                        </m:d>
                      </m:e>
                      <m:sup>
                        <m:r>
                          <a:rPr lang="en-US" sz="2000" b="0" i="1" smtClean="0">
                            <a:latin typeface="Cambria Math" panose="02040503050406030204" pitchFamily="18" charset="0"/>
                          </a:rPr>
                          <m:t>2</m:t>
                        </m:r>
                      </m:sup>
                    </m:sSup>
                  </m:oMath>
                </a14:m>
                <a:r>
                  <a:rPr lang="en-US" sz="2000" dirty="0"/>
                  <a:t>, the spherical body's cross-sectional area, A, and the density of the medium, </a:t>
                </a:r>
                <a14:m>
                  <m:oMath xmlns:m="http://schemas.openxmlformats.org/officeDocument/2006/math">
                    <m:r>
                      <a:rPr lang="en-US" sz="2000" i="1">
                        <a:latin typeface="Cambria Math" panose="02040503050406030204" pitchFamily="18" charset="0"/>
                        <a:ea typeface="Cambria Math" panose="02040503050406030204" pitchFamily="18" charset="0"/>
                      </a:rPr>
                      <m:t>𝜌</m:t>
                    </m:r>
                  </m:oMath>
                </a14:m>
                <a:r>
                  <a:rPr lang="en-US" sz="2000" dirty="0"/>
                  <a:t>. Hence the drag force may be formulated by the equation:</a:t>
                </a:r>
              </a:p>
            </p:txBody>
          </p:sp>
        </mc:Choice>
        <mc:Fallback xmlns="">
          <p:sp>
            <p:nvSpPr>
              <p:cNvPr id="8" name="TextBox 7">
                <a:extLst>
                  <a:ext uri="{FF2B5EF4-FFF2-40B4-BE49-F238E27FC236}">
                    <a16:creationId xmlns:a16="http://schemas.microsoft.com/office/drawing/2014/main" id="{8D66F19C-7473-DFB8-5B53-D574E1F3D247}"/>
                  </a:ext>
                </a:extLst>
              </p:cNvPr>
              <p:cNvSpPr txBox="1">
                <a:spLocks noRot="1" noChangeAspect="1" noMove="1" noResize="1" noEditPoints="1" noAdjustHandles="1" noChangeArrowheads="1" noChangeShapeType="1" noTextEdit="1"/>
              </p:cNvSpPr>
              <p:nvPr/>
            </p:nvSpPr>
            <p:spPr>
              <a:xfrm>
                <a:off x="510988" y="1844148"/>
                <a:ext cx="7845913" cy="1631216"/>
              </a:xfrm>
              <a:prstGeom prst="rect">
                <a:avLst/>
              </a:prstGeom>
              <a:blipFill>
                <a:blip r:embed="rId2"/>
                <a:stretch>
                  <a:fillRect l="-855" t="-2247" r="-233" b="-59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862235F-23D9-F35E-3C47-608C8101C42D}"/>
                  </a:ext>
                </a:extLst>
              </p:cNvPr>
              <p:cNvSpPr txBox="1"/>
              <p:nvPr/>
            </p:nvSpPr>
            <p:spPr>
              <a:xfrm>
                <a:off x="510988" y="3475364"/>
                <a:ext cx="2538807" cy="61093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𝐹</m:t>
                          </m:r>
                        </m:e>
                        <m:sub>
                          <m:r>
                            <a:rPr lang="en-US" sz="1800" b="0" i="1" smtClean="0">
                              <a:latin typeface="Cambria Math" panose="02040503050406030204" pitchFamily="18" charset="0"/>
                            </a:rPr>
                            <m:t>𝑑</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2</m:t>
                          </m:r>
                        </m:den>
                      </m:f>
                      <m:r>
                        <a:rPr lang="en-US" sz="1800" b="0" i="1" smtClean="0">
                          <a:latin typeface="Cambria Math" panose="02040503050406030204" pitchFamily="18" charset="0"/>
                          <a:ea typeface="Cambria Math" panose="02040503050406030204" pitchFamily="18" charset="0"/>
                        </a:rPr>
                        <m:t>𝜌</m:t>
                      </m:r>
                      <m:sSup>
                        <m:sSupPr>
                          <m:ctrlPr>
                            <a:rPr lang="en-US" sz="1800" b="0" i="1" smtClean="0">
                              <a:latin typeface="Cambria Math" panose="02040503050406030204" pitchFamily="18" charset="0"/>
                              <a:ea typeface="Cambria Math" panose="02040503050406030204" pitchFamily="18" charset="0"/>
                            </a:rPr>
                          </m:ctrlPr>
                        </m:sSupPr>
                        <m:e>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e>
                        <m:sup>
                          <m:r>
                            <a:rPr lang="en-US" sz="1800" b="0" i="1" smtClean="0">
                              <a:latin typeface="Cambria Math" panose="02040503050406030204" pitchFamily="18" charset="0"/>
                              <a:ea typeface="Cambria Math" panose="02040503050406030204" pitchFamily="18" charset="0"/>
                            </a:rPr>
                            <m:t>2</m:t>
                          </m:r>
                        </m:sup>
                      </m:sSup>
                      <m:r>
                        <a:rPr lang="en-US" sz="1800" b="0" i="1" smtClean="0">
                          <a:latin typeface="Cambria Math" panose="02040503050406030204" pitchFamily="18" charset="0"/>
                          <a:ea typeface="Cambria Math" panose="02040503050406030204" pitchFamily="18" charset="0"/>
                        </a:rPr>
                        <m:t>𝐴</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𝐶</m:t>
                          </m:r>
                        </m:e>
                        <m:sub>
                          <m:r>
                            <a:rPr lang="en-US" sz="1800" b="0" i="1" smtClean="0">
                              <a:latin typeface="Cambria Math" panose="02040503050406030204" pitchFamily="18" charset="0"/>
                              <a:ea typeface="Cambria Math" panose="02040503050406030204" pitchFamily="18" charset="0"/>
                            </a:rPr>
                            <m:t>𝑑</m:t>
                          </m:r>
                        </m:sub>
                      </m:sSub>
                    </m:oMath>
                  </m:oMathPara>
                </a14:m>
                <a:endParaRPr lang="en-US" sz="1800" dirty="0"/>
              </a:p>
            </p:txBody>
          </p:sp>
        </mc:Choice>
        <mc:Fallback xmlns="">
          <p:sp>
            <p:nvSpPr>
              <p:cNvPr id="11" name="TextBox 10">
                <a:extLst>
                  <a:ext uri="{FF2B5EF4-FFF2-40B4-BE49-F238E27FC236}">
                    <a16:creationId xmlns:a16="http://schemas.microsoft.com/office/drawing/2014/main" id="{9862235F-23D9-F35E-3C47-608C8101C42D}"/>
                  </a:ext>
                </a:extLst>
              </p:cNvPr>
              <p:cNvSpPr txBox="1">
                <a:spLocks noRot="1" noChangeAspect="1" noMove="1" noResize="1" noEditPoints="1" noAdjustHandles="1" noChangeArrowheads="1" noChangeShapeType="1" noTextEdit="1"/>
              </p:cNvSpPr>
              <p:nvPr/>
            </p:nvSpPr>
            <p:spPr>
              <a:xfrm>
                <a:off x="510988" y="3475364"/>
                <a:ext cx="2538807" cy="61093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FFDAF35B-ED32-5502-1D4B-423C109F6690}"/>
                  </a:ext>
                </a:extLst>
              </p:cNvPr>
              <p:cNvSpPr txBox="1">
                <a:spLocks/>
              </p:cNvSpPr>
              <p:nvPr/>
            </p:nvSpPr>
            <p:spPr>
              <a:xfrm>
                <a:off x="510988" y="4193087"/>
                <a:ext cx="3533888" cy="1793986"/>
              </a:xfrm>
              <a:prstGeom prst="rect">
                <a:avLst/>
              </a:prstGeom>
            </p:spPr>
            <p:txBody>
              <a:bodyPr vert="horz" lIns="0" tIns="45720" rIns="0" bIns="45720" rtlCol="0">
                <a:normAutofit fontScale="85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where</a:t>
                </a:r>
              </a:p>
              <a:p>
                <a14:m>
                  <m:oMath xmlns:m="http://schemas.openxmlformats.org/officeDocument/2006/math">
                    <m:r>
                      <a:rPr lang="en-US" sz="2000" b="0" i="1" smtClean="0">
                        <a:latin typeface="Cambria Math" panose="02040503050406030204" pitchFamily="18" charset="0"/>
                        <a:ea typeface="Cambria Math" panose="02040503050406030204" pitchFamily="18" charset="0"/>
                      </a:rPr>
                      <m:t>𝜌</m:t>
                    </m:r>
                  </m:oMath>
                </a14:m>
                <a:r>
                  <a:rPr lang="en-US" dirty="0"/>
                  <a:t> = air density</a:t>
                </a:r>
              </a:p>
              <a:p>
                <a14:m>
                  <m:oMath xmlns:m="http://schemas.openxmlformats.org/officeDocument/2006/math">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r>
                      <a:rPr lang="en-US" i="1">
                        <a:latin typeface="Cambria Math" panose="02040503050406030204" pitchFamily="18" charset="0"/>
                      </a:rPr>
                      <m:t> </m:t>
                    </m:r>
                  </m:oMath>
                </a14:m>
                <a:r>
                  <a:rPr lang="en-US" dirty="0"/>
                  <a:t>= magnitude of the velocity vector</a:t>
                </a:r>
              </a:p>
              <a:p>
                <a:r>
                  <a:rPr lang="en-US" dirty="0"/>
                  <a:t>A = projectile projected frontal area</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𝑑</m:t>
                        </m:r>
                      </m:sub>
                    </m:sSub>
                  </m:oMath>
                </a14:m>
                <a:r>
                  <a:rPr lang="en-US" dirty="0"/>
                  <a:t> = projectile drag coefficient</a:t>
                </a:r>
              </a:p>
              <a:p>
                <a:endParaRPr lang="en-US" dirty="0"/>
              </a:p>
            </p:txBody>
          </p:sp>
        </mc:Choice>
        <mc:Fallback xmlns="">
          <p:sp>
            <p:nvSpPr>
              <p:cNvPr id="12" name="Content Placeholder 2">
                <a:extLst>
                  <a:ext uri="{FF2B5EF4-FFF2-40B4-BE49-F238E27FC236}">
                    <a16:creationId xmlns:a16="http://schemas.microsoft.com/office/drawing/2014/main" id="{FFDAF35B-ED32-5502-1D4B-423C109F6690}"/>
                  </a:ext>
                </a:extLst>
              </p:cNvPr>
              <p:cNvSpPr txBox="1">
                <a:spLocks noRot="1" noChangeAspect="1" noMove="1" noResize="1" noEditPoints="1" noAdjustHandles="1" noChangeArrowheads="1" noChangeShapeType="1" noTextEdit="1"/>
              </p:cNvSpPr>
              <p:nvPr/>
            </p:nvSpPr>
            <p:spPr>
              <a:xfrm>
                <a:off x="510988" y="4193087"/>
                <a:ext cx="3533888" cy="1793986"/>
              </a:xfrm>
              <a:prstGeom prst="rect">
                <a:avLst/>
              </a:prstGeom>
              <a:blipFill>
                <a:blip r:embed="rId4"/>
                <a:stretch>
                  <a:fillRect l="-3793" t="-5102" b="-68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E016579-49C7-96DF-C244-96B3D13DD811}"/>
              </a:ext>
            </a:extLst>
          </p:cNvPr>
          <p:cNvSpPr txBox="1"/>
          <p:nvPr/>
        </p:nvSpPr>
        <p:spPr>
          <a:xfrm>
            <a:off x="4320987" y="4177324"/>
            <a:ext cx="4312025" cy="1754326"/>
          </a:xfrm>
          <a:prstGeom prst="rect">
            <a:avLst/>
          </a:prstGeom>
          <a:noFill/>
          <a:ln>
            <a:solidFill>
              <a:schemeClr val="tx1"/>
            </a:solidFill>
          </a:ln>
        </p:spPr>
        <p:txBody>
          <a:bodyPr wrap="square">
            <a:spAutoFit/>
          </a:bodyPr>
          <a:lstStyle/>
          <a:p>
            <a:r>
              <a:rPr lang="en-US" dirty="0"/>
              <a:t>Newton experiments yielded the first accurate measurements of fluid drag forces. He measured the drag coefficient of a sphere to be 0.5, in good agreement with currently accepted value of 0.44 to 0.47 for low speed drag on a smooth sphere.</a:t>
            </a:r>
          </a:p>
        </p:txBody>
      </p:sp>
    </p:spTree>
    <p:extLst>
      <p:ext uri="{BB962C8B-B14F-4D97-AF65-F5344CB8AC3E}">
        <p14:creationId xmlns:p14="http://schemas.microsoft.com/office/powerpoint/2010/main" val="2798283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r>
              <a:rPr lang="en-US" dirty="0"/>
              <a:t>Projectile Motion through Air</a:t>
            </a:r>
          </a:p>
        </p:txBody>
      </p:sp>
      <p:sp>
        <p:nvSpPr>
          <p:cNvPr id="8" name="TextBox 7">
            <a:extLst>
              <a:ext uri="{FF2B5EF4-FFF2-40B4-BE49-F238E27FC236}">
                <a16:creationId xmlns:a16="http://schemas.microsoft.com/office/drawing/2014/main" id="{8D66F19C-7473-DFB8-5B53-D574E1F3D247}"/>
              </a:ext>
            </a:extLst>
          </p:cNvPr>
          <p:cNvSpPr txBox="1"/>
          <p:nvPr/>
        </p:nvSpPr>
        <p:spPr>
          <a:xfrm>
            <a:off x="822959" y="1903239"/>
            <a:ext cx="4376570" cy="707886"/>
          </a:xfrm>
          <a:prstGeom prst="rect">
            <a:avLst/>
          </a:prstGeom>
          <a:noFill/>
        </p:spPr>
        <p:txBody>
          <a:bodyPr wrap="square">
            <a:spAutoFit/>
          </a:bodyPr>
          <a:lstStyle/>
          <a:p>
            <a:r>
              <a:rPr lang="en-US" sz="2000" dirty="0"/>
              <a:t>Again, the equation of drag force is given by:</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862235F-23D9-F35E-3C47-608C8101C42D}"/>
                  </a:ext>
                </a:extLst>
              </p:cNvPr>
              <p:cNvSpPr txBox="1"/>
              <p:nvPr/>
            </p:nvSpPr>
            <p:spPr>
              <a:xfrm>
                <a:off x="822959" y="2611125"/>
                <a:ext cx="2538807" cy="61093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𝐹</m:t>
                          </m:r>
                        </m:e>
                        <m:sub>
                          <m:r>
                            <a:rPr lang="en-US" sz="1800" b="0" i="1" smtClean="0">
                              <a:latin typeface="Cambria Math" panose="02040503050406030204" pitchFamily="18" charset="0"/>
                            </a:rPr>
                            <m:t>𝑑</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2</m:t>
                          </m:r>
                        </m:den>
                      </m:f>
                      <m:r>
                        <a:rPr lang="en-US" sz="1800" b="0" i="1" smtClean="0">
                          <a:latin typeface="Cambria Math" panose="02040503050406030204" pitchFamily="18" charset="0"/>
                          <a:ea typeface="Cambria Math" panose="02040503050406030204" pitchFamily="18" charset="0"/>
                        </a:rPr>
                        <m:t>𝜌</m:t>
                      </m:r>
                      <m:sSup>
                        <m:sSupPr>
                          <m:ctrlPr>
                            <a:rPr lang="en-US" sz="1800" b="0" i="1" smtClean="0">
                              <a:latin typeface="Cambria Math" panose="02040503050406030204" pitchFamily="18" charset="0"/>
                              <a:ea typeface="Cambria Math" panose="02040503050406030204" pitchFamily="18" charset="0"/>
                            </a:rPr>
                          </m:ctrlPr>
                        </m:sSupPr>
                        <m:e>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e>
                        <m:sup>
                          <m:r>
                            <a:rPr lang="en-US" sz="1800" b="0" i="1" smtClean="0">
                              <a:latin typeface="Cambria Math" panose="02040503050406030204" pitchFamily="18" charset="0"/>
                              <a:ea typeface="Cambria Math" panose="02040503050406030204" pitchFamily="18" charset="0"/>
                            </a:rPr>
                            <m:t>2</m:t>
                          </m:r>
                        </m:sup>
                      </m:sSup>
                      <m:r>
                        <a:rPr lang="en-US" sz="1800" b="0" i="1" smtClean="0">
                          <a:latin typeface="Cambria Math" panose="02040503050406030204" pitchFamily="18" charset="0"/>
                          <a:ea typeface="Cambria Math" panose="02040503050406030204" pitchFamily="18" charset="0"/>
                        </a:rPr>
                        <m:t>𝐴</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𝐶</m:t>
                          </m:r>
                        </m:e>
                        <m:sub>
                          <m:r>
                            <a:rPr lang="en-US" sz="1800" b="0" i="1" smtClean="0">
                              <a:latin typeface="Cambria Math" panose="02040503050406030204" pitchFamily="18" charset="0"/>
                              <a:ea typeface="Cambria Math" panose="02040503050406030204" pitchFamily="18" charset="0"/>
                            </a:rPr>
                            <m:t>𝑑</m:t>
                          </m:r>
                        </m:sub>
                      </m:sSub>
                    </m:oMath>
                  </m:oMathPara>
                </a14:m>
                <a:endParaRPr lang="en-US" sz="1800" dirty="0"/>
              </a:p>
            </p:txBody>
          </p:sp>
        </mc:Choice>
        <mc:Fallback xmlns="">
          <p:sp>
            <p:nvSpPr>
              <p:cNvPr id="11" name="TextBox 10">
                <a:extLst>
                  <a:ext uri="{FF2B5EF4-FFF2-40B4-BE49-F238E27FC236}">
                    <a16:creationId xmlns:a16="http://schemas.microsoft.com/office/drawing/2014/main" id="{9862235F-23D9-F35E-3C47-608C8101C42D}"/>
                  </a:ext>
                </a:extLst>
              </p:cNvPr>
              <p:cNvSpPr txBox="1">
                <a:spLocks noRot="1" noChangeAspect="1" noMove="1" noResize="1" noEditPoints="1" noAdjustHandles="1" noChangeArrowheads="1" noChangeShapeType="1" noTextEdit="1"/>
              </p:cNvSpPr>
              <p:nvPr/>
            </p:nvSpPr>
            <p:spPr>
              <a:xfrm>
                <a:off x="822959" y="2611125"/>
                <a:ext cx="2538807" cy="61093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FFDAF35B-ED32-5502-1D4B-423C109F6690}"/>
                  </a:ext>
                </a:extLst>
              </p:cNvPr>
              <p:cNvSpPr txBox="1">
                <a:spLocks/>
              </p:cNvSpPr>
              <p:nvPr/>
            </p:nvSpPr>
            <p:spPr>
              <a:xfrm>
                <a:off x="822959" y="3339206"/>
                <a:ext cx="3533888" cy="1793986"/>
              </a:xfrm>
              <a:prstGeom prst="rect">
                <a:avLst/>
              </a:prstGeom>
            </p:spPr>
            <p:txBody>
              <a:bodyPr vert="horz" lIns="0" tIns="45720" rIns="0" bIns="45720" rtlCol="0">
                <a:normAutofit fontScale="85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where</a:t>
                </a:r>
              </a:p>
              <a:p>
                <a14:m>
                  <m:oMath xmlns:m="http://schemas.openxmlformats.org/officeDocument/2006/math">
                    <m:r>
                      <a:rPr lang="en-US" sz="2000" b="0" i="1" smtClean="0">
                        <a:latin typeface="Cambria Math" panose="02040503050406030204" pitchFamily="18" charset="0"/>
                        <a:ea typeface="Cambria Math" panose="02040503050406030204" pitchFamily="18" charset="0"/>
                      </a:rPr>
                      <m:t>𝜌</m:t>
                    </m:r>
                  </m:oMath>
                </a14:m>
                <a:r>
                  <a:rPr lang="en-US" dirty="0"/>
                  <a:t> = air density</a:t>
                </a:r>
              </a:p>
              <a:p>
                <a14:m>
                  <m:oMath xmlns:m="http://schemas.openxmlformats.org/officeDocument/2006/math">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r>
                      <a:rPr lang="en-US" i="1">
                        <a:latin typeface="Cambria Math" panose="02040503050406030204" pitchFamily="18" charset="0"/>
                      </a:rPr>
                      <m:t> </m:t>
                    </m:r>
                  </m:oMath>
                </a14:m>
                <a:r>
                  <a:rPr lang="en-US" dirty="0"/>
                  <a:t>= magnitude of the velocity vector</a:t>
                </a:r>
              </a:p>
              <a:p>
                <a:r>
                  <a:rPr lang="en-US" dirty="0"/>
                  <a:t>A = projectile projected frontal area</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𝑑</m:t>
                        </m:r>
                      </m:sub>
                    </m:sSub>
                  </m:oMath>
                </a14:m>
                <a:r>
                  <a:rPr lang="en-US" dirty="0"/>
                  <a:t> = projectile drag coefficient</a:t>
                </a:r>
              </a:p>
              <a:p>
                <a:endParaRPr lang="en-US" dirty="0"/>
              </a:p>
            </p:txBody>
          </p:sp>
        </mc:Choice>
        <mc:Fallback xmlns="">
          <p:sp>
            <p:nvSpPr>
              <p:cNvPr id="12" name="Content Placeholder 2">
                <a:extLst>
                  <a:ext uri="{FF2B5EF4-FFF2-40B4-BE49-F238E27FC236}">
                    <a16:creationId xmlns:a16="http://schemas.microsoft.com/office/drawing/2014/main" id="{FFDAF35B-ED32-5502-1D4B-423C109F6690}"/>
                  </a:ext>
                </a:extLst>
              </p:cNvPr>
              <p:cNvSpPr txBox="1">
                <a:spLocks noRot="1" noChangeAspect="1" noMove="1" noResize="1" noEditPoints="1" noAdjustHandles="1" noChangeArrowheads="1" noChangeShapeType="1" noTextEdit="1"/>
              </p:cNvSpPr>
              <p:nvPr/>
            </p:nvSpPr>
            <p:spPr>
              <a:xfrm>
                <a:off x="822959" y="3339206"/>
                <a:ext cx="3533888" cy="1793986"/>
              </a:xfrm>
              <a:prstGeom prst="rect">
                <a:avLst/>
              </a:prstGeom>
              <a:blipFill>
                <a:blip r:embed="rId3"/>
                <a:stretch>
                  <a:fillRect l="-3621" t="-5102" b="-20748"/>
                </a:stretch>
              </a:blipFill>
            </p:spPr>
            <p:txBody>
              <a:bodyPr/>
              <a:lstStyle/>
              <a:p>
                <a:r>
                  <a:rPr lang="en-US">
                    <a:noFill/>
                  </a:rPr>
                  <a:t> </a:t>
                </a:r>
              </a:p>
            </p:txBody>
          </p:sp>
        </mc:Fallback>
      </mc:AlternateContent>
      <p:pic>
        <p:nvPicPr>
          <p:cNvPr id="2050" name="Picture 2">
            <a:extLst>
              <a:ext uri="{FF2B5EF4-FFF2-40B4-BE49-F238E27FC236}">
                <a16:creationId xmlns:a16="http://schemas.microsoft.com/office/drawing/2014/main" id="{798A4E6E-222E-91F5-5CBA-B0BA592AEA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0239" y="4133095"/>
            <a:ext cx="3244732" cy="216484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7136916-4571-B1AD-8A86-DD2AC1935ED3}"/>
                  </a:ext>
                </a:extLst>
              </p:cNvPr>
              <p:cNvSpPr txBox="1"/>
              <p:nvPr/>
            </p:nvSpPr>
            <p:spPr>
              <a:xfrm>
                <a:off x="822959" y="5233869"/>
                <a:ext cx="3964194" cy="1015663"/>
              </a:xfrm>
              <a:prstGeom prst="rect">
                <a:avLst/>
              </a:prstGeom>
              <a:noFill/>
            </p:spPr>
            <p:txBody>
              <a:bodyPr wrap="square">
                <a:spAutoFit/>
              </a:bodyPr>
              <a:lstStyle/>
              <a:p>
                <a:r>
                  <a:rPr lang="en-US" sz="2000" dirty="0"/>
                  <a:t>Because of the </a:t>
                </a:r>
                <a14:m>
                  <m:oMath xmlns:m="http://schemas.openxmlformats.org/officeDocument/2006/math">
                    <m:sSup>
                      <m:sSupPr>
                        <m:ctrlPr>
                          <a:rPr lang="en-US" sz="2000" b="0" i="1" smtClean="0">
                            <a:latin typeface="Cambria Math" panose="02040503050406030204" pitchFamily="18" charset="0"/>
                            <a:ea typeface="Cambria Math" panose="02040503050406030204" pitchFamily="18" charset="0"/>
                          </a:rPr>
                        </m:ctrlPr>
                      </m:sSupPr>
                      <m:e>
                        <m:d>
                          <m:dPr>
                            <m:begChr m:val="|"/>
                            <m:endChr m:val="|"/>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𝑣</m:t>
                                </m:r>
                              </m:e>
                            </m:acc>
                          </m:e>
                        </m:d>
                      </m:e>
                      <m:sup>
                        <m:r>
                          <a:rPr lang="en-US" sz="2000" b="0" i="1" smtClean="0">
                            <a:latin typeface="Cambria Math" panose="02040503050406030204" pitchFamily="18" charset="0"/>
                            <a:ea typeface="Cambria Math" panose="02040503050406030204" pitchFamily="18" charset="0"/>
                          </a:rPr>
                          <m:t>2</m:t>
                        </m:r>
                      </m:sup>
                    </m:sSup>
                  </m:oMath>
                </a14:m>
                <a:r>
                  <a:rPr lang="en-US" sz="2000" dirty="0"/>
                  <a:t> term, the initial velocity of a projectile has a dramatic effect on its trajectory </a:t>
                </a:r>
              </a:p>
            </p:txBody>
          </p:sp>
        </mc:Choice>
        <mc:Fallback xmlns="">
          <p:sp>
            <p:nvSpPr>
              <p:cNvPr id="16" name="TextBox 15">
                <a:extLst>
                  <a:ext uri="{FF2B5EF4-FFF2-40B4-BE49-F238E27FC236}">
                    <a16:creationId xmlns:a16="http://schemas.microsoft.com/office/drawing/2014/main" id="{27136916-4571-B1AD-8A86-DD2AC1935ED3}"/>
                  </a:ext>
                </a:extLst>
              </p:cNvPr>
              <p:cNvSpPr txBox="1">
                <a:spLocks noRot="1" noChangeAspect="1" noMove="1" noResize="1" noEditPoints="1" noAdjustHandles="1" noChangeArrowheads="1" noChangeShapeType="1" noTextEdit="1"/>
              </p:cNvSpPr>
              <p:nvPr/>
            </p:nvSpPr>
            <p:spPr>
              <a:xfrm>
                <a:off x="822959" y="5233869"/>
                <a:ext cx="3964194" cy="1015663"/>
              </a:xfrm>
              <a:prstGeom prst="rect">
                <a:avLst/>
              </a:prstGeom>
              <a:blipFill>
                <a:blip r:embed="rId5"/>
                <a:stretch>
                  <a:fillRect l="-1538" t="-3614" r="-154" b="-10241"/>
                </a:stretch>
              </a:blipFill>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8F24A622-1146-0438-C63E-779990D73B9C}"/>
              </a:ext>
            </a:extLst>
          </p:cNvPr>
          <p:cNvGrpSpPr/>
          <p:nvPr/>
        </p:nvGrpSpPr>
        <p:grpSpPr>
          <a:xfrm>
            <a:off x="5505489" y="1734476"/>
            <a:ext cx="2343952" cy="2320075"/>
            <a:chOff x="1623772" y="3917309"/>
            <a:chExt cx="2343952" cy="2320075"/>
          </a:xfrm>
        </p:grpSpPr>
        <p:grpSp>
          <p:nvGrpSpPr>
            <p:cNvPr id="18" name="Group 17">
              <a:extLst>
                <a:ext uri="{FF2B5EF4-FFF2-40B4-BE49-F238E27FC236}">
                  <a16:creationId xmlns:a16="http://schemas.microsoft.com/office/drawing/2014/main" id="{6BA6B9E8-F926-EBA8-DC93-083A01AB1E43}"/>
                </a:ext>
              </a:extLst>
            </p:cNvPr>
            <p:cNvGrpSpPr/>
            <p:nvPr/>
          </p:nvGrpSpPr>
          <p:grpSpPr>
            <a:xfrm>
              <a:off x="1699130" y="4220554"/>
              <a:ext cx="2165813" cy="1959002"/>
              <a:chOff x="1699130" y="4220554"/>
              <a:chExt cx="2165813" cy="1959002"/>
            </a:xfrm>
          </p:grpSpPr>
          <p:sp>
            <p:nvSpPr>
              <p:cNvPr id="21" name="Oval 20">
                <a:extLst>
                  <a:ext uri="{FF2B5EF4-FFF2-40B4-BE49-F238E27FC236}">
                    <a16:creationId xmlns:a16="http://schemas.microsoft.com/office/drawing/2014/main" id="{33EBD6A9-F5C8-5BB6-9023-633E30F30A59}"/>
                  </a:ext>
                </a:extLst>
              </p:cNvPr>
              <p:cNvSpPr/>
              <p:nvPr/>
            </p:nvSpPr>
            <p:spPr>
              <a:xfrm>
                <a:off x="2805953" y="4608720"/>
                <a:ext cx="439271" cy="439271"/>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1EB8D177-A558-2881-7A68-B0DB44A58CBC}"/>
                  </a:ext>
                </a:extLst>
              </p:cNvPr>
              <p:cNvCxnSpPr>
                <a:cxnSpLocks/>
              </p:cNvCxnSpPr>
              <p:nvPr/>
            </p:nvCxnSpPr>
            <p:spPr>
              <a:xfrm flipV="1">
                <a:off x="3025588" y="4463494"/>
                <a:ext cx="515471" cy="364861"/>
              </a:xfrm>
              <a:prstGeom prst="straightConnector1">
                <a:avLst/>
              </a:prstGeom>
              <a:ln w="41275">
                <a:solidFill>
                  <a:srgbClr val="0070C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3CDE9B0-60A7-E5DE-F635-28BB918D6603}"/>
                  </a:ext>
                </a:extLst>
              </p:cNvPr>
              <p:cNvCxnSpPr>
                <a:cxnSpLocks/>
              </p:cNvCxnSpPr>
              <p:nvPr/>
            </p:nvCxnSpPr>
            <p:spPr>
              <a:xfrm>
                <a:off x="3025588" y="4828355"/>
                <a:ext cx="0" cy="555812"/>
              </a:xfrm>
              <a:prstGeom prst="straightConnector1">
                <a:avLst/>
              </a:prstGeom>
              <a:ln w="41275">
                <a:solidFill>
                  <a:srgbClr val="00B05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8CDF7AC-5495-284B-C410-B51C474EBD96}"/>
                  </a:ext>
                </a:extLst>
              </p:cNvPr>
              <p:cNvCxnSpPr>
                <a:cxnSpLocks/>
              </p:cNvCxnSpPr>
              <p:nvPr/>
            </p:nvCxnSpPr>
            <p:spPr>
              <a:xfrm flipH="1">
                <a:off x="2644589" y="4828355"/>
                <a:ext cx="380999" cy="277906"/>
              </a:xfrm>
              <a:prstGeom prst="straightConnector1">
                <a:avLst/>
              </a:prstGeom>
              <a:ln w="41275">
                <a:solidFill>
                  <a:srgbClr val="92D05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DEF31FF-D363-15E3-C86C-008DB4811E71}"/>
                  </a:ext>
                </a:extLst>
              </p:cNvPr>
              <p:cNvCxnSpPr>
                <a:cxnSpLocks/>
              </p:cNvCxnSpPr>
              <p:nvPr/>
            </p:nvCxnSpPr>
            <p:spPr>
              <a:xfrm flipV="1">
                <a:off x="1958012" y="5113864"/>
                <a:ext cx="0" cy="72345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B937F3A-CD65-2B1E-84FB-C7A66B157E93}"/>
                  </a:ext>
                </a:extLst>
              </p:cNvPr>
              <p:cNvCxnSpPr>
                <a:cxnSpLocks/>
              </p:cNvCxnSpPr>
              <p:nvPr/>
            </p:nvCxnSpPr>
            <p:spPr>
              <a:xfrm>
                <a:off x="1958012" y="5837314"/>
                <a:ext cx="692748"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CD73652-771D-54F0-74BE-8211243D41EA}"/>
                  </a:ext>
                </a:extLst>
              </p:cNvPr>
              <p:cNvCxnSpPr>
                <a:cxnSpLocks/>
              </p:cNvCxnSpPr>
              <p:nvPr/>
            </p:nvCxnSpPr>
            <p:spPr>
              <a:xfrm>
                <a:off x="1958012" y="5837314"/>
                <a:ext cx="346374" cy="0"/>
              </a:xfrm>
              <a:prstGeom prst="straightConnector1">
                <a:avLst/>
              </a:prstGeom>
              <a:ln w="28575">
                <a:solidFill>
                  <a:srgbClr val="FFC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A2E6A9F-CBC6-9FE7-3D97-E70E0542620E}"/>
                  </a:ext>
                </a:extLst>
              </p:cNvPr>
              <p:cNvCxnSpPr>
                <a:cxnSpLocks/>
              </p:cNvCxnSpPr>
              <p:nvPr/>
            </p:nvCxnSpPr>
            <p:spPr>
              <a:xfrm flipH="1" flipV="1">
                <a:off x="1958011" y="5475589"/>
                <a:ext cx="1" cy="361725"/>
              </a:xfrm>
              <a:prstGeom prst="straightConnector1">
                <a:avLst/>
              </a:prstGeom>
              <a:ln w="28575">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C8DEBD7-8584-82DA-B9D3-D603EE06D4A9}"/>
                      </a:ext>
                    </a:extLst>
                  </p:cNvPr>
                  <p:cNvSpPr txBox="1"/>
                  <p:nvPr/>
                </p:nvSpPr>
                <p:spPr>
                  <a:xfrm>
                    <a:off x="2303672" y="4925398"/>
                    <a:ext cx="290977" cy="3105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𝑑</m:t>
                                  </m:r>
                                </m:sub>
                              </m:sSub>
                            </m:e>
                          </m:acc>
                        </m:oMath>
                      </m:oMathPara>
                    </a14:m>
                    <a:endParaRPr lang="en-US" dirty="0"/>
                  </a:p>
                </p:txBody>
              </p:sp>
            </mc:Choice>
            <mc:Fallback xmlns="">
              <p:sp>
                <p:nvSpPr>
                  <p:cNvPr id="29" name="TextBox 28">
                    <a:extLst>
                      <a:ext uri="{FF2B5EF4-FFF2-40B4-BE49-F238E27FC236}">
                        <a16:creationId xmlns:a16="http://schemas.microsoft.com/office/drawing/2014/main" id="{EC8DEBD7-8584-82DA-B9D3-D603EE06D4A9}"/>
                      </a:ext>
                    </a:extLst>
                  </p:cNvPr>
                  <p:cNvSpPr txBox="1">
                    <a:spLocks noRot="1" noChangeAspect="1" noMove="1" noResize="1" noEditPoints="1" noAdjustHandles="1" noChangeArrowheads="1" noChangeShapeType="1" noTextEdit="1"/>
                  </p:cNvSpPr>
                  <p:nvPr/>
                </p:nvSpPr>
                <p:spPr>
                  <a:xfrm>
                    <a:off x="2303672" y="4925398"/>
                    <a:ext cx="290977" cy="310598"/>
                  </a:xfrm>
                  <a:prstGeom prst="rect">
                    <a:avLst/>
                  </a:prstGeom>
                  <a:blipFill>
                    <a:blip r:embed="rId6"/>
                    <a:stretch>
                      <a:fillRect l="-21277" r="-8511"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81E5C6A-71D0-E2D0-0FC0-49344E361489}"/>
                      </a:ext>
                    </a:extLst>
                  </p:cNvPr>
                  <p:cNvSpPr txBox="1"/>
                  <p:nvPr/>
                </p:nvSpPr>
                <p:spPr>
                  <a:xfrm>
                    <a:off x="2862169" y="5448503"/>
                    <a:ext cx="1002774" cy="3395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e>
                          </m:acc>
                          <m:r>
                            <a:rPr lang="en-US" b="0" i="1" smtClean="0">
                              <a:latin typeface="Cambria Math" panose="02040503050406030204" pitchFamily="18" charset="0"/>
                            </a:rPr>
                            <m:t>=</m:t>
                          </m:r>
                          <m:r>
                            <a:rPr lang="en-US" b="0" i="1" smtClean="0">
                              <a:latin typeface="Cambria Math" panose="02040503050406030204" pitchFamily="18" charset="0"/>
                            </a:rPr>
                            <m:t>𝑚</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e>
                            <m:sub>
                              <m:r>
                                <a:rPr lang="en-US" b="0" i="1" smtClean="0">
                                  <a:latin typeface="Cambria Math" panose="02040503050406030204" pitchFamily="18" charset="0"/>
                                </a:rPr>
                                <m:t>𝑔</m:t>
                              </m:r>
                            </m:sub>
                          </m:sSub>
                        </m:oMath>
                      </m:oMathPara>
                    </a14:m>
                    <a:endParaRPr lang="en-US" dirty="0"/>
                  </a:p>
                </p:txBody>
              </p:sp>
            </mc:Choice>
            <mc:Fallback xmlns="">
              <p:sp>
                <p:nvSpPr>
                  <p:cNvPr id="30" name="TextBox 29">
                    <a:extLst>
                      <a:ext uri="{FF2B5EF4-FFF2-40B4-BE49-F238E27FC236}">
                        <a16:creationId xmlns:a16="http://schemas.microsoft.com/office/drawing/2014/main" id="{981E5C6A-71D0-E2D0-0FC0-49344E361489}"/>
                      </a:ext>
                    </a:extLst>
                  </p:cNvPr>
                  <p:cNvSpPr txBox="1">
                    <a:spLocks noRot="1" noChangeAspect="1" noMove="1" noResize="1" noEditPoints="1" noAdjustHandles="1" noChangeArrowheads="1" noChangeShapeType="1" noTextEdit="1"/>
                  </p:cNvSpPr>
                  <p:nvPr/>
                </p:nvSpPr>
                <p:spPr>
                  <a:xfrm>
                    <a:off x="2862169" y="5448503"/>
                    <a:ext cx="1002774" cy="339517"/>
                  </a:xfrm>
                  <a:prstGeom prst="rect">
                    <a:avLst/>
                  </a:prstGeom>
                  <a:blipFill>
                    <a:blip r:embed="rId7"/>
                    <a:stretch>
                      <a:fillRect l="-4848" t="-9091" r="-18182"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FA58A16-0C39-41DE-2E5D-19642E71C885}"/>
                      </a:ext>
                    </a:extLst>
                  </p:cNvPr>
                  <p:cNvSpPr txBox="1"/>
                  <p:nvPr/>
                </p:nvSpPr>
                <p:spPr>
                  <a:xfrm>
                    <a:off x="3576028" y="4220554"/>
                    <a:ext cx="1846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𝑣</m:t>
                              </m:r>
                            </m:e>
                          </m:acc>
                        </m:oMath>
                      </m:oMathPara>
                    </a14:m>
                    <a:endParaRPr lang="en-US" dirty="0"/>
                  </a:p>
                </p:txBody>
              </p:sp>
            </mc:Choice>
            <mc:Fallback xmlns="">
              <p:sp>
                <p:nvSpPr>
                  <p:cNvPr id="31" name="TextBox 30">
                    <a:extLst>
                      <a:ext uri="{FF2B5EF4-FFF2-40B4-BE49-F238E27FC236}">
                        <a16:creationId xmlns:a16="http://schemas.microsoft.com/office/drawing/2014/main" id="{1FA58A16-0C39-41DE-2E5D-19642E71C885}"/>
                      </a:ext>
                    </a:extLst>
                  </p:cNvPr>
                  <p:cNvSpPr txBox="1">
                    <a:spLocks noRot="1" noChangeAspect="1" noMove="1" noResize="1" noEditPoints="1" noAdjustHandles="1" noChangeArrowheads="1" noChangeShapeType="1" noTextEdit="1"/>
                  </p:cNvSpPr>
                  <p:nvPr/>
                </p:nvSpPr>
                <p:spPr>
                  <a:xfrm>
                    <a:off x="3576028" y="4220554"/>
                    <a:ext cx="184666" cy="276999"/>
                  </a:xfrm>
                  <a:prstGeom prst="rect">
                    <a:avLst/>
                  </a:prstGeom>
                  <a:blipFill>
                    <a:blip r:embed="rId8"/>
                    <a:stretch>
                      <a:fillRect l="-19355" t="-23913" r="-741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C648879-1D02-42B4-04CC-8D9F486AAB61}"/>
                      </a:ext>
                    </a:extLst>
                  </p:cNvPr>
                  <p:cNvSpPr txBox="1"/>
                  <p:nvPr/>
                </p:nvSpPr>
                <p:spPr>
                  <a:xfrm>
                    <a:off x="2202071" y="5902557"/>
                    <a:ext cx="1277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𝑖</m:t>
                              </m:r>
                            </m:e>
                          </m:acc>
                        </m:oMath>
                      </m:oMathPara>
                    </a14:m>
                    <a:endParaRPr lang="en-US" dirty="0"/>
                  </a:p>
                </p:txBody>
              </p:sp>
            </mc:Choice>
            <mc:Fallback xmlns="">
              <p:sp>
                <p:nvSpPr>
                  <p:cNvPr id="32" name="TextBox 31">
                    <a:extLst>
                      <a:ext uri="{FF2B5EF4-FFF2-40B4-BE49-F238E27FC236}">
                        <a16:creationId xmlns:a16="http://schemas.microsoft.com/office/drawing/2014/main" id="{7C648879-1D02-42B4-04CC-8D9F486AAB61}"/>
                      </a:ext>
                    </a:extLst>
                  </p:cNvPr>
                  <p:cNvSpPr txBox="1">
                    <a:spLocks noRot="1" noChangeAspect="1" noMove="1" noResize="1" noEditPoints="1" noAdjustHandles="1" noChangeArrowheads="1" noChangeShapeType="1" noTextEdit="1"/>
                  </p:cNvSpPr>
                  <p:nvPr/>
                </p:nvSpPr>
                <p:spPr>
                  <a:xfrm>
                    <a:off x="2202071" y="5902557"/>
                    <a:ext cx="127791" cy="276999"/>
                  </a:xfrm>
                  <a:prstGeom prst="rect">
                    <a:avLst/>
                  </a:prstGeom>
                  <a:blipFill>
                    <a:blip r:embed="rId9"/>
                    <a:stretch>
                      <a:fillRect l="-28571" t="-23913" r="-14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5B13B05-3363-2250-D883-AA4298829E96}"/>
                      </a:ext>
                    </a:extLst>
                  </p:cNvPr>
                  <p:cNvSpPr txBox="1"/>
                  <p:nvPr/>
                </p:nvSpPr>
                <p:spPr>
                  <a:xfrm>
                    <a:off x="1719665" y="5421362"/>
                    <a:ext cx="1384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𝑗</m:t>
                              </m:r>
                            </m:e>
                          </m:acc>
                        </m:oMath>
                      </m:oMathPara>
                    </a14:m>
                    <a:endParaRPr lang="en-US" dirty="0"/>
                  </a:p>
                </p:txBody>
              </p:sp>
            </mc:Choice>
            <mc:Fallback xmlns="">
              <p:sp>
                <p:nvSpPr>
                  <p:cNvPr id="33" name="TextBox 32">
                    <a:extLst>
                      <a:ext uri="{FF2B5EF4-FFF2-40B4-BE49-F238E27FC236}">
                        <a16:creationId xmlns:a16="http://schemas.microsoft.com/office/drawing/2014/main" id="{55B13B05-3363-2250-D883-AA4298829E96}"/>
                      </a:ext>
                    </a:extLst>
                  </p:cNvPr>
                  <p:cNvSpPr txBox="1">
                    <a:spLocks noRot="1" noChangeAspect="1" noMove="1" noResize="1" noEditPoints="1" noAdjustHandles="1" noChangeArrowheads="1" noChangeShapeType="1" noTextEdit="1"/>
                  </p:cNvSpPr>
                  <p:nvPr/>
                </p:nvSpPr>
                <p:spPr>
                  <a:xfrm>
                    <a:off x="1719665" y="5421362"/>
                    <a:ext cx="138499" cy="276999"/>
                  </a:xfrm>
                  <a:prstGeom prst="rect">
                    <a:avLst/>
                  </a:prstGeom>
                  <a:blipFill>
                    <a:blip r:embed="rId10"/>
                    <a:stretch>
                      <a:fillRect l="-43478" t="-23913" r="-139130"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31EC67A-F88D-0A1E-0B7F-912DBE3D81A5}"/>
                      </a:ext>
                    </a:extLst>
                  </p:cNvPr>
                  <p:cNvSpPr txBox="1"/>
                  <p:nvPr/>
                </p:nvSpPr>
                <p:spPr>
                  <a:xfrm>
                    <a:off x="2612428" y="5811750"/>
                    <a:ext cx="1833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34" name="TextBox 33">
                    <a:extLst>
                      <a:ext uri="{FF2B5EF4-FFF2-40B4-BE49-F238E27FC236}">
                        <a16:creationId xmlns:a16="http://schemas.microsoft.com/office/drawing/2014/main" id="{131EC67A-F88D-0A1E-0B7F-912DBE3D81A5}"/>
                      </a:ext>
                    </a:extLst>
                  </p:cNvPr>
                  <p:cNvSpPr txBox="1">
                    <a:spLocks noRot="1" noChangeAspect="1" noMove="1" noResize="1" noEditPoints="1" noAdjustHandles="1" noChangeArrowheads="1" noChangeShapeType="1" noTextEdit="1"/>
                  </p:cNvSpPr>
                  <p:nvPr/>
                </p:nvSpPr>
                <p:spPr>
                  <a:xfrm>
                    <a:off x="2612428" y="5811750"/>
                    <a:ext cx="183320" cy="276999"/>
                  </a:xfrm>
                  <a:prstGeom prst="rect">
                    <a:avLst/>
                  </a:prstGeom>
                  <a:blipFill>
                    <a:blip r:embed="rId11"/>
                    <a:stretch>
                      <a:fillRect l="-20000" r="-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58EF02E-EC3E-A3AE-F0CA-60FC7E7AB8C2}"/>
                      </a:ext>
                    </a:extLst>
                  </p:cNvPr>
                  <p:cNvSpPr txBox="1"/>
                  <p:nvPr/>
                </p:nvSpPr>
                <p:spPr>
                  <a:xfrm>
                    <a:off x="1699130" y="4975364"/>
                    <a:ext cx="18671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n-US" dirty="0"/>
                  </a:p>
                </p:txBody>
              </p:sp>
            </mc:Choice>
            <mc:Fallback xmlns="">
              <p:sp>
                <p:nvSpPr>
                  <p:cNvPr id="35" name="TextBox 34">
                    <a:extLst>
                      <a:ext uri="{FF2B5EF4-FFF2-40B4-BE49-F238E27FC236}">
                        <a16:creationId xmlns:a16="http://schemas.microsoft.com/office/drawing/2014/main" id="{D58EF02E-EC3E-A3AE-F0CA-60FC7E7AB8C2}"/>
                      </a:ext>
                    </a:extLst>
                  </p:cNvPr>
                  <p:cNvSpPr txBox="1">
                    <a:spLocks noRot="1" noChangeAspect="1" noMove="1" noResize="1" noEditPoints="1" noAdjustHandles="1" noChangeArrowheads="1" noChangeShapeType="1" noTextEdit="1"/>
                  </p:cNvSpPr>
                  <p:nvPr/>
                </p:nvSpPr>
                <p:spPr>
                  <a:xfrm>
                    <a:off x="1699130" y="4975364"/>
                    <a:ext cx="186718" cy="276999"/>
                  </a:xfrm>
                  <a:prstGeom prst="rect">
                    <a:avLst/>
                  </a:prstGeom>
                  <a:blipFill>
                    <a:blip r:embed="rId12"/>
                    <a:stretch>
                      <a:fillRect l="-32258" r="-25806" b="-23913"/>
                    </a:stretch>
                  </a:blipFill>
                </p:spPr>
                <p:txBody>
                  <a:bodyPr/>
                  <a:lstStyle/>
                  <a:p>
                    <a:r>
                      <a:rPr lang="en-US">
                        <a:noFill/>
                      </a:rPr>
                      <a:t> </a:t>
                    </a:r>
                  </a:p>
                </p:txBody>
              </p:sp>
            </mc:Fallback>
          </mc:AlternateContent>
        </p:grpSp>
        <p:sp>
          <p:nvSpPr>
            <p:cNvPr id="19" name="TextBox 18">
              <a:extLst>
                <a:ext uri="{FF2B5EF4-FFF2-40B4-BE49-F238E27FC236}">
                  <a16:creationId xmlns:a16="http://schemas.microsoft.com/office/drawing/2014/main" id="{4125023C-25C7-3AA1-F202-34AE85C43CE8}"/>
                </a:ext>
              </a:extLst>
            </p:cNvPr>
            <p:cNvSpPr txBox="1"/>
            <p:nvPr/>
          </p:nvSpPr>
          <p:spPr>
            <a:xfrm>
              <a:off x="1817276" y="3917309"/>
              <a:ext cx="2001125" cy="369332"/>
            </a:xfrm>
            <a:prstGeom prst="rect">
              <a:avLst/>
            </a:prstGeom>
            <a:noFill/>
          </p:spPr>
          <p:txBody>
            <a:bodyPr wrap="none" rtlCol="0">
              <a:spAutoFit/>
            </a:bodyPr>
            <a:lstStyle/>
            <a:p>
              <a:r>
                <a:rPr lang="en-US" dirty="0"/>
                <a:t>Free body diagram:</a:t>
              </a:r>
            </a:p>
          </p:txBody>
        </p:sp>
        <p:sp>
          <p:nvSpPr>
            <p:cNvPr id="20" name="Flowchart: Process 19">
              <a:extLst>
                <a:ext uri="{FF2B5EF4-FFF2-40B4-BE49-F238E27FC236}">
                  <a16:creationId xmlns:a16="http://schemas.microsoft.com/office/drawing/2014/main" id="{A8447C9B-6EFE-0C85-F684-B22E79EA4A51}"/>
                </a:ext>
              </a:extLst>
            </p:cNvPr>
            <p:cNvSpPr/>
            <p:nvPr/>
          </p:nvSpPr>
          <p:spPr>
            <a:xfrm>
              <a:off x="1623772" y="3975137"/>
              <a:ext cx="2343952" cy="2262247"/>
            </a:xfrm>
            <a:prstGeom prst="flowChartProcess">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13114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br>
              <a:rPr lang="en-US" dirty="0"/>
            </a:br>
            <a:r>
              <a:rPr lang="en-US" dirty="0"/>
              <a:t>Projectile Motion through Air</a:t>
            </a:r>
          </a:p>
        </p:txBody>
      </p:sp>
      <p:sp>
        <p:nvSpPr>
          <p:cNvPr id="3" name="TextBox 2">
            <a:extLst>
              <a:ext uri="{FF2B5EF4-FFF2-40B4-BE49-F238E27FC236}">
                <a16:creationId xmlns:a16="http://schemas.microsoft.com/office/drawing/2014/main" id="{4BAF7C34-FFD4-0C4E-EF8C-498CE8A81CE0}"/>
              </a:ext>
            </a:extLst>
          </p:cNvPr>
          <p:cNvSpPr txBox="1"/>
          <p:nvPr/>
        </p:nvSpPr>
        <p:spPr>
          <a:xfrm>
            <a:off x="822958" y="1852051"/>
            <a:ext cx="7720405" cy="1569660"/>
          </a:xfrm>
          <a:prstGeom prst="rect">
            <a:avLst/>
          </a:prstGeom>
          <a:noFill/>
        </p:spPr>
        <p:txBody>
          <a:bodyPr wrap="square" rtlCol="0">
            <a:spAutoFit/>
          </a:bodyPr>
          <a:lstStyle/>
          <a:p>
            <a:r>
              <a:rPr lang="en-US" sz="2400" dirty="0"/>
              <a:t>As mentioned previously, Newton measured the drag coefficient, Cd, of a sphere to be 0.5. However, the drag coefficient is a nonlinear function of Reynolds number, Re, and surface roughness:</a:t>
            </a:r>
          </a:p>
        </p:txBody>
      </p:sp>
      <p:pic>
        <p:nvPicPr>
          <p:cNvPr id="6" name="Picture 5">
            <a:extLst>
              <a:ext uri="{FF2B5EF4-FFF2-40B4-BE49-F238E27FC236}">
                <a16:creationId xmlns:a16="http://schemas.microsoft.com/office/drawing/2014/main" id="{7A264EC4-6129-9E4E-2ADF-606BC929906D}"/>
              </a:ext>
            </a:extLst>
          </p:cNvPr>
          <p:cNvPicPr>
            <a:picLocks noChangeAspect="1"/>
          </p:cNvPicPr>
          <p:nvPr/>
        </p:nvPicPr>
        <p:blipFill rotWithShape="1">
          <a:blip r:embed="rId2"/>
          <a:srcRect l="50428" b="33964"/>
          <a:stretch/>
        </p:blipFill>
        <p:spPr>
          <a:xfrm>
            <a:off x="4909568" y="3308039"/>
            <a:ext cx="2674574" cy="2236694"/>
          </a:xfrm>
          <a:prstGeom prst="rect">
            <a:avLst/>
          </a:prstGeom>
          <a:ln>
            <a:solidFill>
              <a:schemeClr val="tx1"/>
            </a:solidFill>
          </a:ln>
        </p:spPr>
      </p:pic>
      <p:grpSp>
        <p:nvGrpSpPr>
          <p:cNvPr id="18" name="Group 17">
            <a:extLst>
              <a:ext uri="{FF2B5EF4-FFF2-40B4-BE49-F238E27FC236}">
                <a16:creationId xmlns:a16="http://schemas.microsoft.com/office/drawing/2014/main" id="{73F37CBA-899B-56A0-6A1B-EDAA62528825}"/>
              </a:ext>
            </a:extLst>
          </p:cNvPr>
          <p:cNvGrpSpPr/>
          <p:nvPr/>
        </p:nvGrpSpPr>
        <p:grpSpPr>
          <a:xfrm>
            <a:off x="1559858" y="3277144"/>
            <a:ext cx="2848536" cy="2122486"/>
            <a:chOff x="2949388" y="3600101"/>
            <a:chExt cx="2848536" cy="2122486"/>
          </a:xfrm>
        </p:grpSpPr>
        <p:pic>
          <p:nvPicPr>
            <p:cNvPr id="7" name="Picture 6">
              <a:extLst>
                <a:ext uri="{FF2B5EF4-FFF2-40B4-BE49-F238E27FC236}">
                  <a16:creationId xmlns:a16="http://schemas.microsoft.com/office/drawing/2014/main" id="{998C21E0-DBC9-C874-D251-A559DE5B9B72}"/>
                </a:ext>
              </a:extLst>
            </p:cNvPr>
            <p:cNvPicPr>
              <a:picLocks noChangeAspect="1"/>
            </p:cNvPicPr>
            <p:nvPr/>
          </p:nvPicPr>
          <p:blipFill rotWithShape="1">
            <a:blip r:embed="rId2"/>
            <a:srcRect r="54556" b="41662"/>
            <a:stretch/>
          </p:blipFill>
          <p:spPr>
            <a:xfrm>
              <a:off x="3346075" y="3600101"/>
              <a:ext cx="2451849" cy="1975946"/>
            </a:xfrm>
            <a:prstGeom prst="rect">
              <a:avLst/>
            </a:prstGeom>
            <a:ln>
              <a:noFill/>
            </a:ln>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410628D-CCCC-D15F-4DFB-2DA38E5E34B2}"/>
                    </a:ext>
                  </a:extLst>
                </p:cNvPr>
                <p:cNvSpPr txBox="1"/>
                <p:nvPr/>
              </p:nvSpPr>
              <p:spPr>
                <a:xfrm>
                  <a:off x="3137645" y="4272136"/>
                  <a:ext cx="1846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𝑣</m:t>
                            </m:r>
                          </m:e>
                        </m:acc>
                      </m:oMath>
                    </m:oMathPara>
                  </a14:m>
                  <a:endParaRPr lang="en-US" dirty="0"/>
                </a:p>
              </p:txBody>
            </p:sp>
          </mc:Choice>
          <mc:Fallback xmlns="">
            <p:sp>
              <p:nvSpPr>
                <p:cNvPr id="11" name="TextBox 10">
                  <a:extLst>
                    <a:ext uri="{FF2B5EF4-FFF2-40B4-BE49-F238E27FC236}">
                      <a16:creationId xmlns:a16="http://schemas.microsoft.com/office/drawing/2014/main" id="{6410628D-CCCC-D15F-4DFB-2DA38E5E34B2}"/>
                    </a:ext>
                  </a:extLst>
                </p:cNvPr>
                <p:cNvSpPr txBox="1">
                  <a:spLocks noRot="1" noChangeAspect="1" noMove="1" noResize="1" noEditPoints="1" noAdjustHandles="1" noChangeArrowheads="1" noChangeShapeType="1" noTextEdit="1"/>
                </p:cNvSpPr>
                <p:nvPr/>
              </p:nvSpPr>
              <p:spPr>
                <a:xfrm>
                  <a:off x="3137645" y="4272136"/>
                  <a:ext cx="184666" cy="276999"/>
                </a:xfrm>
                <a:prstGeom prst="rect">
                  <a:avLst/>
                </a:prstGeom>
                <a:blipFill>
                  <a:blip r:embed="rId3"/>
                  <a:stretch>
                    <a:fillRect l="-20000" t="-26667" r="-76667"/>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7623BB1F-40F2-533F-4F2B-B2CD2CAA842B}"/>
                </a:ext>
              </a:extLst>
            </p:cNvPr>
            <p:cNvCxnSpPr>
              <a:cxnSpLocks/>
            </p:cNvCxnSpPr>
            <p:nvPr/>
          </p:nvCxnSpPr>
          <p:spPr>
            <a:xfrm>
              <a:off x="3442445" y="5257030"/>
              <a:ext cx="528918" cy="0"/>
            </a:xfrm>
            <a:prstGeom prst="straightConnector1">
              <a:avLst/>
            </a:prstGeom>
            <a:ln w="4445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9CE44F5-6378-0746-1070-3FBF2D38A8A7}"/>
                    </a:ext>
                  </a:extLst>
                </p:cNvPr>
                <p:cNvSpPr txBox="1"/>
                <p:nvPr/>
              </p:nvSpPr>
              <p:spPr>
                <a:xfrm>
                  <a:off x="3137645" y="5109566"/>
                  <a:ext cx="1846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𝑣</m:t>
                            </m:r>
                          </m:e>
                        </m:acc>
                      </m:oMath>
                    </m:oMathPara>
                  </a14:m>
                  <a:endParaRPr lang="en-US" dirty="0"/>
                </a:p>
              </p:txBody>
            </p:sp>
          </mc:Choice>
          <mc:Fallback xmlns="">
            <p:sp>
              <p:nvSpPr>
                <p:cNvPr id="14" name="TextBox 13">
                  <a:extLst>
                    <a:ext uri="{FF2B5EF4-FFF2-40B4-BE49-F238E27FC236}">
                      <a16:creationId xmlns:a16="http://schemas.microsoft.com/office/drawing/2014/main" id="{89CE44F5-6378-0746-1070-3FBF2D38A8A7}"/>
                    </a:ext>
                  </a:extLst>
                </p:cNvPr>
                <p:cNvSpPr txBox="1">
                  <a:spLocks noRot="1" noChangeAspect="1" noMove="1" noResize="1" noEditPoints="1" noAdjustHandles="1" noChangeArrowheads="1" noChangeShapeType="1" noTextEdit="1"/>
                </p:cNvSpPr>
                <p:nvPr/>
              </p:nvSpPr>
              <p:spPr>
                <a:xfrm>
                  <a:off x="3137645" y="5109566"/>
                  <a:ext cx="184666" cy="276999"/>
                </a:xfrm>
                <a:prstGeom prst="rect">
                  <a:avLst/>
                </a:prstGeom>
                <a:blipFill>
                  <a:blip r:embed="rId4"/>
                  <a:stretch>
                    <a:fillRect l="-20000" t="-23913" r="-76667"/>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19736E64-A3FE-E944-DE23-927BC68FC0CC}"/>
                </a:ext>
              </a:extLst>
            </p:cNvPr>
            <p:cNvCxnSpPr>
              <a:cxnSpLocks/>
            </p:cNvCxnSpPr>
            <p:nvPr/>
          </p:nvCxnSpPr>
          <p:spPr>
            <a:xfrm>
              <a:off x="3451410" y="4405383"/>
              <a:ext cx="528918" cy="0"/>
            </a:xfrm>
            <a:prstGeom prst="straightConnector1">
              <a:avLst/>
            </a:prstGeom>
            <a:ln w="4445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CD13C933-25B8-7D72-FE9F-1F163298E56B}"/>
                </a:ext>
              </a:extLst>
            </p:cNvPr>
            <p:cNvSpPr/>
            <p:nvPr/>
          </p:nvSpPr>
          <p:spPr>
            <a:xfrm>
              <a:off x="2949388" y="3783106"/>
              <a:ext cx="2848536" cy="193948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48769E5-459A-925C-1D39-66640A06834B}"/>
                  </a:ext>
                </a:extLst>
              </p:cNvPr>
              <p:cNvSpPr txBox="1"/>
              <p:nvPr/>
            </p:nvSpPr>
            <p:spPr>
              <a:xfrm>
                <a:off x="202595" y="5702494"/>
                <a:ext cx="3275705" cy="5619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𝑅𝑒𝑦𝑛𝑜𝑙𝑑𝑠</m:t>
                      </m:r>
                      <m:r>
                        <a:rPr lang="en-US" b="0" i="1" smtClean="0">
                          <a:latin typeface="Cambria Math" panose="02040503050406030204" pitchFamily="18" charset="0"/>
                        </a:rPr>
                        <m:t> </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𝑅𝑒</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𝑣𝐷</m:t>
                          </m:r>
                        </m:num>
                        <m:den>
                          <m:r>
                            <a:rPr lang="en-US" b="0" i="1" smtClean="0">
                              <a:latin typeface="Cambria Math" panose="02040503050406030204" pitchFamily="18" charset="0"/>
                              <a:ea typeface="Cambria Math" panose="02040503050406030204" pitchFamily="18" charset="0"/>
                            </a:rPr>
                            <m:t>𝜇</m:t>
                          </m:r>
                        </m:den>
                      </m:f>
                    </m:oMath>
                  </m:oMathPara>
                </a14:m>
                <a:endParaRPr lang="en-US" dirty="0"/>
              </a:p>
            </p:txBody>
          </p:sp>
        </mc:Choice>
        <mc:Fallback xmlns="">
          <p:sp>
            <p:nvSpPr>
              <p:cNvPr id="20" name="TextBox 19">
                <a:extLst>
                  <a:ext uri="{FF2B5EF4-FFF2-40B4-BE49-F238E27FC236}">
                    <a16:creationId xmlns:a16="http://schemas.microsoft.com/office/drawing/2014/main" id="{D48769E5-459A-925C-1D39-66640A06834B}"/>
                  </a:ext>
                </a:extLst>
              </p:cNvPr>
              <p:cNvSpPr txBox="1">
                <a:spLocks noRot="1" noChangeAspect="1" noMove="1" noResize="1" noEditPoints="1" noAdjustHandles="1" noChangeArrowheads="1" noChangeShapeType="1" noTextEdit="1"/>
              </p:cNvSpPr>
              <p:nvPr/>
            </p:nvSpPr>
            <p:spPr>
              <a:xfrm>
                <a:off x="202595" y="5702494"/>
                <a:ext cx="3275705" cy="56194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17998EE-7343-18E1-78F4-67D17DAEDF4C}"/>
                  </a:ext>
                </a:extLst>
              </p:cNvPr>
              <p:cNvSpPr txBox="1"/>
              <p:nvPr/>
            </p:nvSpPr>
            <p:spPr>
              <a:xfrm>
                <a:off x="4107241" y="5669669"/>
                <a:ext cx="16405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𝑎𝑖𝑟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𝑑𝑒𝑛𝑠𝑖𝑡𝑦</m:t>
                      </m:r>
                    </m:oMath>
                  </m:oMathPara>
                </a14:m>
                <a:endParaRPr lang="en-US" dirty="0"/>
              </a:p>
            </p:txBody>
          </p:sp>
        </mc:Choice>
        <mc:Fallback xmlns="">
          <p:sp>
            <p:nvSpPr>
              <p:cNvPr id="21" name="TextBox 20">
                <a:extLst>
                  <a:ext uri="{FF2B5EF4-FFF2-40B4-BE49-F238E27FC236}">
                    <a16:creationId xmlns:a16="http://schemas.microsoft.com/office/drawing/2014/main" id="{A17998EE-7343-18E1-78F4-67D17DAEDF4C}"/>
                  </a:ext>
                </a:extLst>
              </p:cNvPr>
              <p:cNvSpPr txBox="1">
                <a:spLocks noRot="1" noChangeAspect="1" noMove="1" noResize="1" noEditPoints="1" noAdjustHandles="1" noChangeArrowheads="1" noChangeShapeType="1" noTextEdit="1"/>
              </p:cNvSpPr>
              <p:nvPr/>
            </p:nvSpPr>
            <p:spPr>
              <a:xfrm>
                <a:off x="4107241" y="5669669"/>
                <a:ext cx="1640514" cy="276999"/>
              </a:xfrm>
              <a:prstGeom prst="rect">
                <a:avLst/>
              </a:prstGeom>
              <a:blipFill>
                <a:blip r:embed="rId6"/>
                <a:stretch>
                  <a:fillRect l="-2974" t="-2174" r="-4833"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9C242D4-443F-6996-C1EE-BDD380924575}"/>
                  </a:ext>
                </a:extLst>
              </p:cNvPr>
              <p:cNvSpPr txBox="1"/>
              <p:nvPr/>
            </p:nvSpPr>
            <p:spPr>
              <a:xfrm>
                <a:off x="4071381" y="6039385"/>
                <a:ext cx="2240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𝑠𝑝h𝑒𝑟𝑒</m:t>
                      </m:r>
                      <m:r>
                        <a:rPr lang="en-US" b="0" i="1" smtClean="0">
                          <a:latin typeface="Cambria Math" panose="02040503050406030204" pitchFamily="18" charset="0"/>
                        </a:rPr>
                        <m:t> </m:t>
                      </m:r>
                      <m:r>
                        <a:rPr lang="en-US" b="0" i="1" smtClean="0">
                          <a:latin typeface="Cambria Math" panose="02040503050406030204" pitchFamily="18" charset="0"/>
                        </a:rPr>
                        <m:t>𝑑𝑖𝑎𝑚𝑒𝑡𝑒𝑟</m:t>
                      </m:r>
                    </m:oMath>
                  </m:oMathPara>
                </a14:m>
                <a:endParaRPr lang="en-US" dirty="0"/>
              </a:p>
            </p:txBody>
          </p:sp>
        </mc:Choice>
        <mc:Fallback xmlns="">
          <p:sp>
            <p:nvSpPr>
              <p:cNvPr id="22" name="TextBox 21">
                <a:extLst>
                  <a:ext uri="{FF2B5EF4-FFF2-40B4-BE49-F238E27FC236}">
                    <a16:creationId xmlns:a16="http://schemas.microsoft.com/office/drawing/2014/main" id="{B9C242D4-443F-6996-C1EE-BDD380924575}"/>
                  </a:ext>
                </a:extLst>
              </p:cNvPr>
              <p:cNvSpPr txBox="1">
                <a:spLocks noRot="1" noChangeAspect="1" noMove="1" noResize="1" noEditPoints="1" noAdjustHandles="1" noChangeArrowheads="1" noChangeShapeType="1" noTextEdit="1"/>
              </p:cNvSpPr>
              <p:nvPr/>
            </p:nvSpPr>
            <p:spPr>
              <a:xfrm>
                <a:off x="4071381" y="6039385"/>
                <a:ext cx="2240229" cy="276999"/>
              </a:xfrm>
              <a:prstGeom prst="rect">
                <a:avLst/>
              </a:prstGeom>
              <a:blipFill>
                <a:blip r:embed="rId7"/>
                <a:stretch>
                  <a:fillRect l="-2180" t="-4444" r="-2452"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6140CB7-823A-7DFB-28D6-9DD2EDAEB2BE}"/>
                  </a:ext>
                </a:extLst>
              </p:cNvPr>
              <p:cNvSpPr txBox="1"/>
              <p:nvPr/>
            </p:nvSpPr>
            <p:spPr>
              <a:xfrm>
                <a:off x="6455994" y="5669669"/>
                <a:ext cx="252287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𝑣</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𝑣𝑒𝑙𝑜𝑐𝑖𝑡𝑦</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𝑚𝑎𝑔𝑛𝑖𝑡𝑢𝑑𝑒</m:t>
                      </m:r>
                    </m:oMath>
                  </m:oMathPara>
                </a14:m>
                <a:endParaRPr lang="en-US" dirty="0"/>
              </a:p>
            </p:txBody>
          </p:sp>
        </mc:Choice>
        <mc:Fallback xmlns="">
          <p:sp>
            <p:nvSpPr>
              <p:cNvPr id="23" name="TextBox 22">
                <a:extLst>
                  <a:ext uri="{FF2B5EF4-FFF2-40B4-BE49-F238E27FC236}">
                    <a16:creationId xmlns:a16="http://schemas.microsoft.com/office/drawing/2014/main" id="{D6140CB7-823A-7DFB-28D6-9DD2EDAEB2BE}"/>
                  </a:ext>
                </a:extLst>
              </p:cNvPr>
              <p:cNvSpPr txBox="1">
                <a:spLocks noRot="1" noChangeAspect="1" noMove="1" noResize="1" noEditPoints="1" noAdjustHandles="1" noChangeArrowheads="1" noChangeShapeType="1" noTextEdit="1"/>
              </p:cNvSpPr>
              <p:nvPr/>
            </p:nvSpPr>
            <p:spPr>
              <a:xfrm>
                <a:off x="6455994" y="5669669"/>
                <a:ext cx="2522870" cy="276999"/>
              </a:xfrm>
              <a:prstGeom prst="rect">
                <a:avLst/>
              </a:prstGeom>
              <a:blipFill>
                <a:blip r:embed="rId8"/>
                <a:stretch>
                  <a:fillRect l="-966" t="-2174" r="-2899"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5253C54B-9F72-51C3-A237-94BB61DD047B}"/>
                  </a:ext>
                </a:extLst>
              </p:cNvPr>
              <p:cNvSpPr txBox="1"/>
              <p:nvPr/>
            </p:nvSpPr>
            <p:spPr>
              <a:xfrm>
                <a:off x="6455994" y="6030419"/>
                <a:ext cx="238514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𝑑𝑦𝑛𝑎𝑚𝑖𝑐</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𝑣𝑖𝑠𝑐𝑜𝑠𝑖𝑡𝑦</m:t>
                      </m:r>
                    </m:oMath>
                  </m:oMathPara>
                </a14:m>
                <a:endParaRPr lang="en-US" dirty="0"/>
              </a:p>
            </p:txBody>
          </p:sp>
        </mc:Choice>
        <mc:Fallback xmlns="">
          <p:sp>
            <p:nvSpPr>
              <p:cNvPr id="24" name="TextBox 23">
                <a:extLst>
                  <a:ext uri="{FF2B5EF4-FFF2-40B4-BE49-F238E27FC236}">
                    <a16:creationId xmlns:a16="http://schemas.microsoft.com/office/drawing/2014/main" id="{5253C54B-9F72-51C3-A237-94BB61DD047B}"/>
                  </a:ext>
                </a:extLst>
              </p:cNvPr>
              <p:cNvSpPr txBox="1">
                <a:spLocks noRot="1" noChangeAspect="1" noMove="1" noResize="1" noEditPoints="1" noAdjustHandles="1" noChangeArrowheads="1" noChangeShapeType="1" noTextEdit="1"/>
              </p:cNvSpPr>
              <p:nvPr/>
            </p:nvSpPr>
            <p:spPr>
              <a:xfrm>
                <a:off x="6455994" y="6030419"/>
                <a:ext cx="2385140" cy="276999"/>
              </a:xfrm>
              <a:prstGeom prst="rect">
                <a:avLst/>
              </a:prstGeom>
              <a:blipFill>
                <a:blip r:embed="rId9"/>
                <a:stretch>
                  <a:fillRect l="-1790" t="-2174" r="-3069" b="-32609"/>
                </a:stretch>
              </a:blipFill>
            </p:spPr>
            <p:txBody>
              <a:bodyPr/>
              <a:lstStyle/>
              <a:p>
                <a:r>
                  <a:rPr lang="en-US">
                    <a:noFill/>
                  </a:rPr>
                  <a:t> </a:t>
                </a:r>
              </a:p>
            </p:txBody>
          </p:sp>
        </mc:Fallback>
      </mc:AlternateContent>
    </p:spTree>
    <p:extLst>
      <p:ext uri="{BB962C8B-B14F-4D97-AF65-F5344CB8AC3E}">
        <p14:creationId xmlns:p14="http://schemas.microsoft.com/office/powerpoint/2010/main" val="2931348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br>
              <a:rPr lang="en-US" dirty="0"/>
            </a:br>
            <a:r>
              <a:rPr lang="en-US" dirty="0"/>
              <a:t>Projectile Motion through Air</a:t>
            </a:r>
          </a:p>
        </p:txBody>
      </p:sp>
      <p:sp>
        <p:nvSpPr>
          <p:cNvPr id="3" name="TextBox 2">
            <a:extLst>
              <a:ext uri="{FF2B5EF4-FFF2-40B4-BE49-F238E27FC236}">
                <a16:creationId xmlns:a16="http://schemas.microsoft.com/office/drawing/2014/main" id="{4BAF7C34-FFD4-0C4E-EF8C-498CE8A81CE0}"/>
              </a:ext>
            </a:extLst>
          </p:cNvPr>
          <p:cNvSpPr txBox="1"/>
          <p:nvPr/>
        </p:nvSpPr>
        <p:spPr>
          <a:xfrm>
            <a:off x="822959" y="1734698"/>
            <a:ext cx="7564887" cy="1015663"/>
          </a:xfrm>
          <a:prstGeom prst="rect">
            <a:avLst/>
          </a:prstGeom>
          <a:noFill/>
        </p:spPr>
        <p:txBody>
          <a:bodyPr wrap="square" rtlCol="0">
            <a:spAutoFit/>
          </a:bodyPr>
          <a:lstStyle/>
          <a:p>
            <a:r>
              <a:rPr lang="en-US" sz="2000" dirty="0"/>
              <a:t>Using drag coefficient versus Reynolds number data for airflow over a baseball (Ref.: </a:t>
            </a:r>
            <a:r>
              <a:rPr lang="en-US" sz="2000" dirty="0" err="1"/>
              <a:t>Kensrud</a:t>
            </a:r>
            <a:r>
              <a:rPr lang="en-US" sz="2000" dirty="0"/>
              <a:t>), a linear least-squares curve fit was used to fit the data to a two-line piecewise continuous function:</a:t>
            </a:r>
          </a:p>
        </p:txBody>
      </p:sp>
      <p:pic>
        <p:nvPicPr>
          <p:cNvPr id="4" name="Picture 3">
            <a:extLst>
              <a:ext uri="{FF2B5EF4-FFF2-40B4-BE49-F238E27FC236}">
                <a16:creationId xmlns:a16="http://schemas.microsoft.com/office/drawing/2014/main" id="{F9D166EF-F549-9C67-0F23-AE6A1E8741A0}"/>
              </a:ext>
            </a:extLst>
          </p:cNvPr>
          <p:cNvPicPr>
            <a:picLocks noChangeAspect="1"/>
          </p:cNvPicPr>
          <p:nvPr/>
        </p:nvPicPr>
        <p:blipFill>
          <a:blip r:embed="rId2"/>
          <a:stretch>
            <a:fillRect/>
          </a:stretch>
        </p:blipFill>
        <p:spPr>
          <a:xfrm>
            <a:off x="683969" y="3294573"/>
            <a:ext cx="4324435" cy="3035625"/>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F2B6E6F-1E78-E0D7-5048-8725978519C3}"/>
                  </a:ext>
                </a:extLst>
              </p:cNvPr>
              <p:cNvSpPr txBox="1"/>
              <p:nvPr/>
            </p:nvSpPr>
            <p:spPr>
              <a:xfrm>
                <a:off x="5296815" y="3977364"/>
                <a:ext cx="3632031" cy="1938992"/>
              </a:xfrm>
              <a:prstGeom prst="rect">
                <a:avLst/>
              </a:prstGeom>
              <a:noFill/>
            </p:spPr>
            <p:txBody>
              <a:bodyPr wrap="square" rtlCol="0">
                <a:spAutoFit/>
              </a:bodyPr>
              <a:lstStyle/>
              <a:p>
                <a:r>
                  <a:rPr lang="en-US" sz="2000" dirty="0"/>
                  <a:t>Note that in this simulation, air density </a:t>
                </a:r>
                <a14:m>
                  <m:oMath xmlns:m="http://schemas.openxmlformats.org/officeDocument/2006/math">
                    <m:r>
                      <a:rPr lang="en-US" sz="2000" b="0" i="1" smtClean="0">
                        <a:latin typeface="Cambria Math" panose="02040503050406030204" pitchFamily="18" charset="0"/>
                        <a:ea typeface="Cambria Math" panose="02040503050406030204" pitchFamily="18" charset="0"/>
                      </a:rPr>
                      <m:t>𝜌</m:t>
                    </m:r>
                  </m:oMath>
                </a14:m>
                <a:r>
                  <a:rPr lang="en-US" sz="2000" dirty="0"/>
                  <a:t>, baseball diameter D, and air dynamic viscosity </a:t>
                </a:r>
                <a14:m>
                  <m:oMath xmlns:m="http://schemas.openxmlformats.org/officeDocument/2006/math">
                    <m:r>
                      <a:rPr lang="en-US" sz="2000" i="1">
                        <a:latin typeface="Cambria Math" panose="02040503050406030204" pitchFamily="18" charset="0"/>
                        <a:ea typeface="Cambria Math" panose="02040503050406030204" pitchFamily="18" charset="0"/>
                      </a:rPr>
                      <m:t>𝜇</m:t>
                    </m:r>
                    <m:r>
                      <a:rPr lang="en-US" sz="2000" i="1">
                        <a:latin typeface="Cambria Math" panose="02040503050406030204" pitchFamily="18" charset="0"/>
                        <a:ea typeface="Cambria Math" panose="02040503050406030204" pitchFamily="18" charset="0"/>
                      </a:rPr>
                      <m:t> </m:t>
                    </m:r>
                  </m:oMath>
                </a14:m>
                <a:r>
                  <a:rPr lang="en-US" sz="2000" dirty="0"/>
                  <a:t>are constant, so Reynolds number is directly proportional to the baseball’s speed v:</a:t>
                </a:r>
              </a:p>
            </p:txBody>
          </p:sp>
        </mc:Choice>
        <mc:Fallback xmlns="">
          <p:sp>
            <p:nvSpPr>
              <p:cNvPr id="7" name="TextBox 6">
                <a:extLst>
                  <a:ext uri="{FF2B5EF4-FFF2-40B4-BE49-F238E27FC236}">
                    <a16:creationId xmlns:a16="http://schemas.microsoft.com/office/drawing/2014/main" id="{1F2B6E6F-1E78-E0D7-5048-8725978519C3}"/>
                  </a:ext>
                </a:extLst>
              </p:cNvPr>
              <p:cNvSpPr txBox="1">
                <a:spLocks noRot="1" noChangeAspect="1" noMove="1" noResize="1" noEditPoints="1" noAdjustHandles="1" noChangeArrowheads="1" noChangeShapeType="1" noTextEdit="1"/>
              </p:cNvSpPr>
              <p:nvPr/>
            </p:nvSpPr>
            <p:spPr>
              <a:xfrm>
                <a:off x="5296815" y="3977364"/>
                <a:ext cx="3632031" cy="1938992"/>
              </a:xfrm>
              <a:prstGeom prst="rect">
                <a:avLst/>
              </a:prstGeom>
              <a:blipFill>
                <a:blip r:embed="rId3"/>
                <a:stretch>
                  <a:fillRect l="-1846" t="-1567" b="-43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9704A03-361E-44A0-960E-05E4365D9E75}"/>
                  </a:ext>
                </a:extLst>
              </p:cNvPr>
              <p:cNvSpPr txBox="1"/>
              <p:nvPr/>
            </p:nvSpPr>
            <p:spPr>
              <a:xfrm>
                <a:off x="5371031" y="3354418"/>
                <a:ext cx="3275705" cy="5619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𝑅𝑒𝑦𝑛𝑜𝑙𝑑𝑠</m:t>
                      </m:r>
                      <m:r>
                        <a:rPr lang="en-US" b="0" i="1" smtClean="0">
                          <a:latin typeface="Cambria Math" panose="02040503050406030204" pitchFamily="18" charset="0"/>
                        </a:rPr>
                        <m:t> </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𝑅𝑒</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𝑣𝐷</m:t>
                          </m:r>
                        </m:num>
                        <m:den>
                          <m:r>
                            <a:rPr lang="en-US" b="0" i="1" smtClean="0">
                              <a:latin typeface="Cambria Math" panose="02040503050406030204" pitchFamily="18" charset="0"/>
                              <a:ea typeface="Cambria Math" panose="02040503050406030204" pitchFamily="18" charset="0"/>
                            </a:rPr>
                            <m:t>𝜇</m:t>
                          </m:r>
                        </m:den>
                      </m:f>
                    </m:oMath>
                  </m:oMathPara>
                </a14:m>
                <a:endParaRPr lang="en-US" dirty="0"/>
              </a:p>
            </p:txBody>
          </p:sp>
        </mc:Choice>
        <mc:Fallback xmlns="">
          <p:sp>
            <p:nvSpPr>
              <p:cNvPr id="8" name="TextBox 7">
                <a:extLst>
                  <a:ext uri="{FF2B5EF4-FFF2-40B4-BE49-F238E27FC236}">
                    <a16:creationId xmlns:a16="http://schemas.microsoft.com/office/drawing/2014/main" id="{F9704A03-361E-44A0-960E-05E4365D9E75}"/>
                  </a:ext>
                </a:extLst>
              </p:cNvPr>
              <p:cNvSpPr txBox="1">
                <a:spLocks noRot="1" noChangeAspect="1" noMove="1" noResize="1" noEditPoints="1" noAdjustHandles="1" noChangeArrowheads="1" noChangeShapeType="1" noTextEdit="1"/>
              </p:cNvSpPr>
              <p:nvPr/>
            </p:nvSpPr>
            <p:spPr>
              <a:xfrm>
                <a:off x="5371031" y="3354418"/>
                <a:ext cx="3275705" cy="56194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B7164D-55F8-6BCA-9884-940C05961713}"/>
                  </a:ext>
                </a:extLst>
              </p:cNvPr>
              <p:cNvSpPr txBox="1"/>
              <p:nvPr/>
            </p:nvSpPr>
            <p:spPr>
              <a:xfrm>
                <a:off x="5371031" y="5999940"/>
                <a:ext cx="16172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m:t>
                      </m:r>
                      <m:r>
                        <a:rPr lang="en-US" b="0" i="1" smtClean="0">
                          <a:latin typeface="Cambria Math" panose="02040503050406030204" pitchFamily="18" charset="0"/>
                        </a:rPr>
                        <m:t>=</m:t>
                      </m:r>
                      <m:r>
                        <a:rPr lang="en-US" b="0" i="1" smtClean="0">
                          <a:latin typeface="Cambria Math" panose="02040503050406030204" pitchFamily="18" charset="0"/>
                        </a:rPr>
                        <m:t>𝐶𝑜𝑛𝑠𝑡</m:t>
                      </m:r>
                      <m:r>
                        <a:rPr lang="en-US" b="0" i="1" smtClean="0">
                          <a:latin typeface="Cambria Math" panose="02040503050406030204" pitchFamily="18" charset="0"/>
                        </a:rPr>
                        <m:t> ∗</m:t>
                      </m:r>
                      <m:r>
                        <a:rPr lang="en-US" b="0" i="1" smtClean="0">
                          <a:latin typeface="Cambria Math" panose="02040503050406030204" pitchFamily="18" charset="0"/>
                        </a:rPr>
                        <m:t>𝑣</m:t>
                      </m:r>
                    </m:oMath>
                  </m:oMathPara>
                </a14:m>
                <a:endParaRPr lang="en-US" dirty="0"/>
              </a:p>
            </p:txBody>
          </p:sp>
        </mc:Choice>
        <mc:Fallback xmlns="">
          <p:sp>
            <p:nvSpPr>
              <p:cNvPr id="9" name="TextBox 8">
                <a:extLst>
                  <a:ext uri="{FF2B5EF4-FFF2-40B4-BE49-F238E27FC236}">
                    <a16:creationId xmlns:a16="http://schemas.microsoft.com/office/drawing/2014/main" id="{CBB7164D-55F8-6BCA-9884-940C05961713}"/>
                  </a:ext>
                </a:extLst>
              </p:cNvPr>
              <p:cNvSpPr txBox="1">
                <a:spLocks noRot="1" noChangeAspect="1" noMove="1" noResize="1" noEditPoints="1" noAdjustHandles="1" noChangeArrowheads="1" noChangeShapeType="1" noTextEdit="1"/>
              </p:cNvSpPr>
              <p:nvPr/>
            </p:nvSpPr>
            <p:spPr>
              <a:xfrm>
                <a:off x="5371031" y="5999940"/>
                <a:ext cx="1617238" cy="276999"/>
              </a:xfrm>
              <a:prstGeom prst="rect">
                <a:avLst/>
              </a:prstGeom>
              <a:blipFill>
                <a:blip r:embed="rId5"/>
                <a:stretch>
                  <a:fillRect l="-3019" r="-1509"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0F6D12E-D7AA-440C-E60A-1269019A8070}"/>
                  </a:ext>
                </a:extLst>
              </p:cNvPr>
              <p:cNvSpPr txBox="1"/>
              <p:nvPr/>
            </p:nvSpPr>
            <p:spPr>
              <a:xfrm>
                <a:off x="934354" y="2759571"/>
                <a:ext cx="6893860" cy="830997"/>
              </a:xfrm>
              <a:prstGeom prst="rect">
                <a:avLst/>
              </a:prstGeom>
              <a:noFill/>
            </p:spPr>
            <p:txBody>
              <a:bodyPr wrap="square" lIns="0" tIns="0" rIns="0" bIns="0" rtlCol="0">
                <a:spAutoFit/>
              </a:bodyPr>
              <a:lstStyle/>
              <a:p>
                <a:r>
                  <a:rPr lang="en-US" dirty="0"/>
                  <a:t>w</a:t>
                </a:r>
                <a:r>
                  <a:rPr lang="en-US" b="0" dirty="0"/>
                  <a:t>hen Re &lt; 200000:   </a:t>
                </a:r>
                <a14:m>
                  <m:oMath xmlns:m="http://schemas.openxmlformats.org/officeDocument/2006/math">
                    <m:r>
                      <a:rPr lang="en-US" b="0" i="1" smtClean="0">
                        <a:latin typeface="Cambria Math" panose="02040503050406030204" pitchFamily="18" charset="0"/>
                      </a:rPr>
                      <m:t>𝐶𝑑</m:t>
                    </m:r>
                    <m:r>
                      <a:rPr lang="en-US" b="0" i="1" smtClean="0">
                        <a:latin typeface="Cambria Math" panose="02040503050406030204" pitchFamily="18" charset="0"/>
                      </a:rPr>
                      <m:t>=</m:t>
                    </m:r>
                    <m:r>
                      <a:rPr lang="en-US" b="0" i="1" smtClean="0">
                        <a:latin typeface="Cambria Math" panose="02040503050406030204" pitchFamily="18" charset="0"/>
                      </a:rPr>
                      <m:t>𝑅𝑒</m:t>
                    </m:r>
                    <m:r>
                      <a:rPr lang="en-US" b="0" i="1" smtClean="0">
                        <a:latin typeface="Cambria Math" panose="02040503050406030204" pitchFamily="18" charset="0"/>
                      </a:rPr>
                      <m:t>∗</m:t>
                    </m:r>
                    <m:r>
                      <m:rPr>
                        <m:nor/>
                      </m:rPr>
                      <a:rPr lang="en-US"/>
                      <m:t>−1.52664361</m:t>
                    </m:r>
                    <m:r>
                      <m:rPr>
                        <m:nor/>
                      </m:rPr>
                      <a:rPr lang="en-US"/>
                      <m:t>e</m:t>
                    </m:r>
                    <m:r>
                      <m:rPr>
                        <m:nor/>
                      </m:rPr>
                      <a:rPr lang="en-US"/>
                      <m:t>−06 + 0.59416069 </m:t>
                    </m:r>
                  </m:oMath>
                </a14:m>
                <a:endParaRPr lang="en-US" b="0" i="0" dirty="0"/>
              </a:p>
              <a:p>
                <a:r>
                  <a:rPr lang="en-US" dirty="0"/>
                  <a:t>w</a:t>
                </a:r>
                <a:r>
                  <a:rPr lang="en-US" b="0" dirty="0"/>
                  <a:t>hen Re ≥ 200000:   </a:t>
                </a:r>
                <a14:m>
                  <m:oMath xmlns:m="http://schemas.openxmlformats.org/officeDocument/2006/math">
                    <m:r>
                      <a:rPr lang="en-US" b="0" i="1" smtClean="0">
                        <a:latin typeface="Cambria Math" panose="02040503050406030204" pitchFamily="18" charset="0"/>
                      </a:rPr>
                      <m:t>𝐶𝑑</m:t>
                    </m:r>
                    <m:r>
                      <a:rPr lang="en-US" b="0" i="1" smtClean="0">
                        <a:latin typeface="Cambria Math" panose="02040503050406030204" pitchFamily="18" charset="0"/>
                      </a:rPr>
                      <m:t>=</m:t>
                    </m:r>
                    <m:r>
                      <a:rPr lang="en-US" b="0" i="1" smtClean="0">
                        <a:latin typeface="Cambria Math" panose="02040503050406030204" pitchFamily="18" charset="0"/>
                      </a:rPr>
                      <m:t>𝑅𝑒</m:t>
                    </m:r>
                    <m:r>
                      <m:rPr>
                        <m:nor/>
                      </m:rPr>
                      <a:rPr lang="en-US" b="0" i="0" smtClean="0">
                        <a:latin typeface="Cambria Math" panose="02040503050406030204" pitchFamily="18" charset="0"/>
                      </a:rPr>
                      <m:t> ∗ </m:t>
                    </m:r>
                    <m:r>
                      <m:rPr>
                        <m:nor/>
                      </m:rPr>
                      <a:rPr lang="en-US"/>
                      <m:t>2.83876989</m:t>
                    </m:r>
                    <m:r>
                      <m:rPr>
                        <m:nor/>
                      </m:rPr>
                      <a:rPr lang="en-US"/>
                      <m:t>e</m:t>
                    </m:r>
                    <m:r>
                      <m:rPr>
                        <m:nor/>
                      </m:rPr>
                      <a:rPr lang="en-US"/>
                      <m:t>−08 + 0.2776702</m:t>
                    </m:r>
                  </m:oMath>
                </a14:m>
                <a:endParaRPr lang="en-US" dirty="0"/>
              </a:p>
              <a:p>
                <a:endParaRPr lang="en-US" dirty="0"/>
              </a:p>
            </p:txBody>
          </p:sp>
        </mc:Choice>
        <mc:Fallback xmlns="">
          <p:sp>
            <p:nvSpPr>
              <p:cNvPr id="10" name="TextBox 9">
                <a:extLst>
                  <a:ext uri="{FF2B5EF4-FFF2-40B4-BE49-F238E27FC236}">
                    <a16:creationId xmlns:a16="http://schemas.microsoft.com/office/drawing/2014/main" id="{80F6D12E-D7AA-440C-E60A-1269019A8070}"/>
                  </a:ext>
                </a:extLst>
              </p:cNvPr>
              <p:cNvSpPr txBox="1">
                <a:spLocks noRot="1" noChangeAspect="1" noMove="1" noResize="1" noEditPoints="1" noAdjustHandles="1" noChangeArrowheads="1" noChangeShapeType="1" noTextEdit="1"/>
              </p:cNvSpPr>
              <p:nvPr/>
            </p:nvSpPr>
            <p:spPr>
              <a:xfrm>
                <a:off x="934354" y="2759571"/>
                <a:ext cx="6893860" cy="830997"/>
              </a:xfrm>
              <a:prstGeom prst="rect">
                <a:avLst/>
              </a:prstGeom>
              <a:blipFill>
                <a:blip r:embed="rId6"/>
                <a:stretch>
                  <a:fillRect l="-2034" t="-9559"/>
                </a:stretch>
              </a:blipFill>
            </p:spPr>
            <p:txBody>
              <a:bodyPr/>
              <a:lstStyle/>
              <a:p>
                <a:r>
                  <a:rPr lang="en-US">
                    <a:noFill/>
                  </a:rPr>
                  <a:t> </a:t>
                </a:r>
              </a:p>
            </p:txBody>
          </p:sp>
        </mc:Fallback>
      </mc:AlternateContent>
    </p:spTree>
    <p:extLst>
      <p:ext uri="{BB962C8B-B14F-4D97-AF65-F5344CB8AC3E}">
        <p14:creationId xmlns:p14="http://schemas.microsoft.com/office/powerpoint/2010/main" val="2447824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r>
              <a:rPr lang="en-US" dirty="0"/>
              <a:t>Projectile Motion through Air</a:t>
            </a:r>
          </a:p>
        </p:txBody>
      </p:sp>
      <p:sp>
        <p:nvSpPr>
          <p:cNvPr id="11" name="Content Placeholder 2">
            <a:extLst>
              <a:ext uri="{FF2B5EF4-FFF2-40B4-BE49-F238E27FC236}">
                <a16:creationId xmlns:a16="http://schemas.microsoft.com/office/drawing/2014/main" id="{D3401DA1-B747-C95B-9AF0-634B02BED4A7}"/>
              </a:ext>
            </a:extLst>
          </p:cNvPr>
          <p:cNvSpPr txBox="1">
            <a:spLocks/>
          </p:cNvSpPr>
          <p:nvPr/>
        </p:nvSpPr>
        <p:spPr>
          <a:xfrm>
            <a:off x="751242" y="1872695"/>
            <a:ext cx="4551538" cy="74768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Using the drag force equation, the total force vector on the projectile is given by:</a:t>
            </a:r>
          </a:p>
          <a:p>
            <a:endParaRPr lang="en-US"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B850655-CF02-3389-25D1-020107556FF1}"/>
                  </a:ext>
                </a:extLst>
              </p:cNvPr>
              <p:cNvSpPr txBox="1"/>
              <p:nvPr/>
            </p:nvSpPr>
            <p:spPr>
              <a:xfrm>
                <a:off x="822959" y="2863252"/>
                <a:ext cx="2404335" cy="67601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𝐹</m:t>
                          </m:r>
                        </m:e>
                      </m:acc>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𝐹</m:t>
                          </m:r>
                        </m:e>
                        <m:sub>
                          <m:r>
                            <a:rPr lang="en-US" sz="1800" b="0" i="1" smtClean="0">
                              <a:latin typeface="Cambria Math" panose="02040503050406030204" pitchFamily="18" charset="0"/>
                            </a:rPr>
                            <m:t>𝑑</m:t>
                          </m:r>
                        </m:sub>
                      </m:sSub>
                      <m:f>
                        <m:fPr>
                          <m:ctrlPr>
                            <a:rPr lang="en-US" sz="1800" b="0" i="1" smtClean="0">
                              <a:latin typeface="Cambria Math" panose="02040503050406030204" pitchFamily="18" charset="0"/>
                            </a:rPr>
                          </m:ctrlPr>
                        </m:fPr>
                        <m:num>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𝑣</m:t>
                              </m:r>
                            </m:e>
                          </m:acc>
                        </m:num>
                        <m:den>
                          <m:d>
                            <m:dPr>
                              <m:begChr m:val="|"/>
                              <m:endChr m:val="|"/>
                              <m:ctrlPr>
                                <a:rPr lang="en-US" sz="1800" b="0" i="1" smtClean="0">
                                  <a:latin typeface="Cambria Math" panose="02040503050406030204" pitchFamily="18" charset="0"/>
                                </a:rPr>
                              </m:ctrlPr>
                            </m:d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𝑣</m:t>
                                  </m:r>
                                </m:e>
                              </m:acc>
                            </m:e>
                          </m:d>
                        </m:den>
                      </m:f>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𝐹</m:t>
                          </m:r>
                        </m:e>
                        <m:sub>
                          <m:r>
                            <a:rPr lang="en-US" sz="1800" b="0" i="1" smtClean="0">
                              <a:latin typeface="Cambria Math" panose="02040503050406030204" pitchFamily="18" charset="0"/>
                            </a:rPr>
                            <m:t>𝑔</m:t>
                          </m:r>
                        </m:sub>
                      </m:sSub>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𝑗</m:t>
                          </m:r>
                        </m:e>
                      </m:acc>
                    </m:oMath>
                  </m:oMathPara>
                </a14:m>
                <a:endParaRPr lang="en-US" sz="1800" b="0" dirty="0"/>
              </a:p>
            </p:txBody>
          </p:sp>
        </mc:Choice>
        <mc:Fallback xmlns="">
          <p:sp>
            <p:nvSpPr>
              <p:cNvPr id="17" name="TextBox 16">
                <a:extLst>
                  <a:ext uri="{FF2B5EF4-FFF2-40B4-BE49-F238E27FC236}">
                    <a16:creationId xmlns:a16="http://schemas.microsoft.com/office/drawing/2014/main" id="{EB850655-CF02-3389-25D1-020107556FF1}"/>
                  </a:ext>
                </a:extLst>
              </p:cNvPr>
              <p:cNvSpPr txBox="1">
                <a:spLocks noRot="1" noChangeAspect="1" noMove="1" noResize="1" noEditPoints="1" noAdjustHandles="1" noChangeArrowheads="1" noChangeShapeType="1" noTextEdit="1"/>
              </p:cNvSpPr>
              <p:nvPr/>
            </p:nvSpPr>
            <p:spPr>
              <a:xfrm>
                <a:off x="822959" y="2863252"/>
                <a:ext cx="2404335" cy="67601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35225B5-76EC-90C0-DCF4-6CE32A29F579}"/>
                  </a:ext>
                </a:extLst>
              </p:cNvPr>
              <p:cNvSpPr txBox="1"/>
              <p:nvPr/>
            </p:nvSpPr>
            <p:spPr>
              <a:xfrm>
                <a:off x="1038112" y="3703830"/>
                <a:ext cx="2803111" cy="67601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a:rPr lang="en-US" i="1">
                          <a:latin typeface="Cambria Math" panose="02040503050406030204" pitchFamily="18" charset="0"/>
                          <a:ea typeface="Cambria Math" panose="02040503050406030204" pitchFamily="18" charset="0"/>
                        </a:rPr>
                        <m:t>𝜌</m:t>
                      </m:r>
                      <m:sSup>
                        <m:sSupPr>
                          <m:ctrlPr>
                            <a:rPr lang="en-US" i="1">
                              <a:latin typeface="Cambria Math" panose="02040503050406030204" pitchFamily="18" charset="0"/>
                              <a:ea typeface="Cambria Math" panose="02040503050406030204" pitchFamily="18" charset="0"/>
                            </a:rPr>
                          </m:ctrlPr>
                        </m:sSupPr>
                        <m:e>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f>
                        <m:fPr>
                          <m:ctrlPr>
                            <a:rPr lang="en-US" sz="1800" b="0" i="1" smtClean="0">
                              <a:latin typeface="Cambria Math" panose="02040503050406030204" pitchFamily="18" charset="0"/>
                            </a:rPr>
                          </m:ctrlPr>
                        </m:fPr>
                        <m:num>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𝑣</m:t>
                              </m:r>
                            </m:e>
                          </m:acc>
                        </m:num>
                        <m:den>
                          <m:d>
                            <m:dPr>
                              <m:begChr m:val="|"/>
                              <m:endChr m:val="|"/>
                              <m:ctrlPr>
                                <a:rPr lang="en-US" sz="1800" b="0" i="1" smtClean="0">
                                  <a:latin typeface="Cambria Math" panose="02040503050406030204" pitchFamily="18" charset="0"/>
                                </a:rPr>
                              </m:ctrlPr>
                            </m:d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𝑣</m:t>
                                  </m:r>
                                </m:e>
                              </m:acc>
                            </m:e>
                          </m:d>
                        </m:den>
                      </m:f>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𝐹</m:t>
                          </m:r>
                        </m:e>
                        <m:sub>
                          <m:r>
                            <a:rPr lang="en-US" sz="1800" b="0" i="1" smtClean="0">
                              <a:latin typeface="Cambria Math" panose="02040503050406030204" pitchFamily="18" charset="0"/>
                            </a:rPr>
                            <m:t>𝑔</m:t>
                          </m:r>
                        </m:sub>
                      </m:sSub>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𝑗</m:t>
                          </m:r>
                        </m:e>
                      </m:acc>
                    </m:oMath>
                  </m:oMathPara>
                </a14:m>
                <a:endParaRPr lang="en-US" sz="1800" b="0" dirty="0"/>
              </a:p>
            </p:txBody>
          </p:sp>
        </mc:Choice>
        <mc:Fallback xmlns="">
          <p:sp>
            <p:nvSpPr>
              <p:cNvPr id="18" name="TextBox 17">
                <a:extLst>
                  <a:ext uri="{FF2B5EF4-FFF2-40B4-BE49-F238E27FC236}">
                    <a16:creationId xmlns:a16="http://schemas.microsoft.com/office/drawing/2014/main" id="{A35225B5-76EC-90C0-DCF4-6CE32A29F579}"/>
                  </a:ext>
                </a:extLst>
              </p:cNvPr>
              <p:cNvSpPr txBox="1">
                <a:spLocks noRot="1" noChangeAspect="1" noMove="1" noResize="1" noEditPoints="1" noAdjustHandles="1" noChangeArrowheads="1" noChangeShapeType="1" noTextEdit="1"/>
              </p:cNvSpPr>
              <p:nvPr/>
            </p:nvSpPr>
            <p:spPr>
              <a:xfrm>
                <a:off x="1038112" y="3703830"/>
                <a:ext cx="2803111" cy="67601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B1D9D24-65D4-F3E6-D9C0-BC884B3E22AC}"/>
                  </a:ext>
                </a:extLst>
              </p:cNvPr>
              <p:cNvSpPr txBox="1"/>
              <p:nvPr/>
            </p:nvSpPr>
            <p:spPr>
              <a:xfrm>
                <a:off x="1038112" y="4622719"/>
                <a:ext cx="2803111" cy="61093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acc>
                        <m:accPr>
                          <m:chr m:val="⃑"/>
                          <m:ctrlPr>
                            <a:rPr lang="en-US" i="1">
                              <a:latin typeface="Cambria Math" panose="02040503050406030204" pitchFamily="18" charset="0"/>
                            </a:rPr>
                          </m:ctrlPr>
                        </m:accPr>
                        <m:e>
                          <m:r>
                            <a:rPr lang="en-US" i="1">
                              <a:latin typeface="Cambria Math" panose="02040503050406030204" pitchFamily="18" charset="0"/>
                            </a:rPr>
                            <m:t>𝑣</m:t>
                          </m:r>
                        </m:e>
                      </m:acc>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𝐹</m:t>
                          </m:r>
                        </m:e>
                        <m:sub>
                          <m:r>
                            <a:rPr lang="en-US" sz="1800" b="0" i="1" smtClean="0">
                              <a:latin typeface="Cambria Math" panose="02040503050406030204" pitchFamily="18" charset="0"/>
                            </a:rPr>
                            <m:t>𝑔</m:t>
                          </m:r>
                        </m:sub>
                      </m:sSub>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𝑗</m:t>
                          </m:r>
                        </m:e>
                      </m:acc>
                    </m:oMath>
                  </m:oMathPara>
                </a14:m>
                <a:endParaRPr lang="en-US" sz="1800" b="0" dirty="0"/>
              </a:p>
            </p:txBody>
          </p:sp>
        </mc:Choice>
        <mc:Fallback xmlns="">
          <p:sp>
            <p:nvSpPr>
              <p:cNvPr id="19" name="TextBox 18">
                <a:extLst>
                  <a:ext uri="{FF2B5EF4-FFF2-40B4-BE49-F238E27FC236}">
                    <a16:creationId xmlns:a16="http://schemas.microsoft.com/office/drawing/2014/main" id="{4B1D9D24-65D4-F3E6-D9C0-BC884B3E22AC}"/>
                  </a:ext>
                </a:extLst>
              </p:cNvPr>
              <p:cNvSpPr txBox="1">
                <a:spLocks noRot="1" noChangeAspect="1" noMove="1" noResize="1" noEditPoints="1" noAdjustHandles="1" noChangeArrowheads="1" noChangeShapeType="1" noTextEdit="1"/>
              </p:cNvSpPr>
              <p:nvPr/>
            </p:nvSpPr>
            <p:spPr>
              <a:xfrm>
                <a:off x="1038112" y="4622719"/>
                <a:ext cx="2803111" cy="610936"/>
              </a:xfrm>
              <a:prstGeom prst="rect">
                <a:avLst/>
              </a:prstGeom>
              <a:blipFill>
                <a:blip r:embed="rId4"/>
                <a:stretch>
                  <a:fillRect/>
                </a:stretch>
              </a:blipFill>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D8FDF01D-B85C-10AC-DF25-F2A49B544858}"/>
              </a:ext>
            </a:extLst>
          </p:cNvPr>
          <p:cNvGrpSpPr/>
          <p:nvPr/>
        </p:nvGrpSpPr>
        <p:grpSpPr>
          <a:xfrm>
            <a:off x="6048806" y="1872695"/>
            <a:ext cx="2343952" cy="2320075"/>
            <a:chOff x="1623772" y="3917309"/>
            <a:chExt cx="2343952" cy="2320075"/>
          </a:xfrm>
        </p:grpSpPr>
        <p:grpSp>
          <p:nvGrpSpPr>
            <p:cNvPr id="22" name="Group 21">
              <a:extLst>
                <a:ext uri="{FF2B5EF4-FFF2-40B4-BE49-F238E27FC236}">
                  <a16:creationId xmlns:a16="http://schemas.microsoft.com/office/drawing/2014/main" id="{CC537B5D-4C58-D971-C3B7-9DDF997D1809}"/>
                </a:ext>
              </a:extLst>
            </p:cNvPr>
            <p:cNvGrpSpPr/>
            <p:nvPr/>
          </p:nvGrpSpPr>
          <p:grpSpPr>
            <a:xfrm>
              <a:off x="1699130" y="4220554"/>
              <a:ext cx="2165813" cy="1959002"/>
              <a:chOff x="1699130" y="4220554"/>
              <a:chExt cx="2165813" cy="1959002"/>
            </a:xfrm>
          </p:grpSpPr>
          <p:sp>
            <p:nvSpPr>
              <p:cNvPr id="25" name="Oval 24">
                <a:extLst>
                  <a:ext uri="{FF2B5EF4-FFF2-40B4-BE49-F238E27FC236}">
                    <a16:creationId xmlns:a16="http://schemas.microsoft.com/office/drawing/2014/main" id="{644AD198-1A4F-19DB-CC05-D9202C1C0A59}"/>
                  </a:ext>
                </a:extLst>
              </p:cNvPr>
              <p:cNvSpPr/>
              <p:nvPr/>
            </p:nvSpPr>
            <p:spPr>
              <a:xfrm>
                <a:off x="2805953" y="4608720"/>
                <a:ext cx="439271" cy="439271"/>
              </a:xfrm>
              <a:prstGeom prst="ellipse">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8FFC6CF1-AE37-6522-B3AF-B689896FA5B0}"/>
                  </a:ext>
                </a:extLst>
              </p:cNvPr>
              <p:cNvCxnSpPr>
                <a:cxnSpLocks/>
              </p:cNvCxnSpPr>
              <p:nvPr/>
            </p:nvCxnSpPr>
            <p:spPr>
              <a:xfrm flipV="1">
                <a:off x="3025588" y="4463494"/>
                <a:ext cx="515471" cy="364861"/>
              </a:xfrm>
              <a:prstGeom prst="straightConnector1">
                <a:avLst/>
              </a:prstGeom>
              <a:ln w="41275">
                <a:solidFill>
                  <a:srgbClr val="0070C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96CC5EA-5196-5F16-CD75-A0A75BD24931}"/>
                  </a:ext>
                </a:extLst>
              </p:cNvPr>
              <p:cNvCxnSpPr>
                <a:cxnSpLocks/>
              </p:cNvCxnSpPr>
              <p:nvPr/>
            </p:nvCxnSpPr>
            <p:spPr>
              <a:xfrm>
                <a:off x="3025588" y="4828355"/>
                <a:ext cx="0" cy="555812"/>
              </a:xfrm>
              <a:prstGeom prst="straightConnector1">
                <a:avLst/>
              </a:prstGeom>
              <a:ln w="41275">
                <a:solidFill>
                  <a:srgbClr val="00B05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F395F68-C307-2AA3-37AD-9AAD72BC0180}"/>
                  </a:ext>
                </a:extLst>
              </p:cNvPr>
              <p:cNvCxnSpPr>
                <a:cxnSpLocks/>
              </p:cNvCxnSpPr>
              <p:nvPr/>
            </p:nvCxnSpPr>
            <p:spPr>
              <a:xfrm flipH="1">
                <a:off x="2644589" y="4828355"/>
                <a:ext cx="380999" cy="277906"/>
              </a:xfrm>
              <a:prstGeom prst="straightConnector1">
                <a:avLst/>
              </a:prstGeom>
              <a:ln w="41275">
                <a:solidFill>
                  <a:srgbClr val="92D05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88A0731-5A1C-9E7C-CB59-FF7882A26961}"/>
                  </a:ext>
                </a:extLst>
              </p:cNvPr>
              <p:cNvCxnSpPr>
                <a:cxnSpLocks/>
              </p:cNvCxnSpPr>
              <p:nvPr/>
            </p:nvCxnSpPr>
            <p:spPr>
              <a:xfrm flipV="1">
                <a:off x="1958012" y="5113864"/>
                <a:ext cx="0" cy="72345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67A1488-980F-11E8-AF22-AF7940650692}"/>
                  </a:ext>
                </a:extLst>
              </p:cNvPr>
              <p:cNvCxnSpPr>
                <a:cxnSpLocks/>
              </p:cNvCxnSpPr>
              <p:nvPr/>
            </p:nvCxnSpPr>
            <p:spPr>
              <a:xfrm>
                <a:off x="1958012" y="5837314"/>
                <a:ext cx="692748"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78EF112-37E8-1BF5-AC0E-8B942342E919}"/>
                  </a:ext>
                </a:extLst>
              </p:cNvPr>
              <p:cNvCxnSpPr>
                <a:cxnSpLocks/>
              </p:cNvCxnSpPr>
              <p:nvPr/>
            </p:nvCxnSpPr>
            <p:spPr>
              <a:xfrm>
                <a:off x="1958012" y="5837314"/>
                <a:ext cx="346374" cy="0"/>
              </a:xfrm>
              <a:prstGeom prst="straightConnector1">
                <a:avLst/>
              </a:prstGeom>
              <a:ln w="28575">
                <a:solidFill>
                  <a:srgbClr val="FFC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B743BB7-9FB7-E0A0-0CDA-EB7CFC6F27BF}"/>
                  </a:ext>
                </a:extLst>
              </p:cNvPr>
              <p:cNvCxnSpPr>
                <a:cxnSpLocks/>
              </p:cNvCxnSpPr>
              <p:nvPr/>
            </p:nvCxnSpPr>
            <p:spPr>
              <a:xfrm flipH="1" flipV="1">
                <a:off x="1958011" y="5475589"/>
                <a:ext cx="1" cy="361725"/>
              </a:xfrm>
              <a:prstGeom prst="straightConnector1">
                <a:avLst/>
              </a:prstGeom>
              <a:ln w="28575">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C206ED4-564C-EF6B-D5A9-4B35C320F8A8}"/>
                      </a:ext>
                    </a:extLst>
                  </p:cNvPr>
                  <p:cNvSpPr txBox="1"/>
                  <p:nvPr/>
                </p:nvSpPr>
                <p:spPr>
                  <a:xfrm>
                    <a:off x="2303672" y="4925398"/>
                    <a:ext cx="290977" cy="3105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𝑑</m:t>
                                  </m:r>
                                </m:sub>
                              </m:sSub>
                            </m:e>
                          </m:acc>
                        </m:oMath>
                      </m:oMathPara>
                    </a14:m>
                    <a:endParaRPr lang="en-US" dirty="0"/>
                  </a:p>
                </p:txBody>
              </p:sp>
            </mc:Choice>
            <mc:Fallback xmlns="">
              <p:sp>
                <p:nvSpPr>
                  <p:cNvPr id="33" name="TextBox 32">
                    <a:extLst>
                      <a:ext uri="{FF2B5EF4-FFF2-40B4-BE49-F238E27FC236}">
                        <a16:creationId xmlns:a16="http://schemas.microsoft.com/office/drawing/2014/main" id="{0C206ED4-564C-EF6B-D5A9-4B35C320F8A8}"/>
                      </a:ext>
                    </a:extLst>
                  </p:cNvPr>
                  <p:cNvSpPr txBox="1">
                    <a:spLocks noRot="1" noChangeAspect="1" noMove="1" noResize="1" noEditPoints="1" noAdjustHandles="1" noChangeArrowheads="1" noChangeShapeType="1" noTextEdit="1"/>
                  </p:cNvSpPr>
                  <p:nvPr/>
                </p:nvSpPr>
                <p:spPr>
                  <a:xfrm>
                    <a:off x="2303672" y="4925398"/>
                    <a:ext cx="290977" cy="310598"/>
                  </a:xfrm>
                  <a:prstGeom prst="rect">
                    <a:avLst/>
                  </a:prstGeom>
                  <a:blipFill>
                    <a:blip r:embed="rId5"/>
                    <a:stretch>
                      <a:fillRect l="-20833" r="-6250"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A951FFE-95A6-3C6E-1D68-192006018CB0}"/>
                      </a:ext>
                    </a:extLst>
                  </p:cNvPr>
                  <p:cNvSpPr txBox="1"/>
                  <p:nvPr/>
                </p:nvSpPr>
                <p:spPr>
                  <a:xfrm>
                    <a:off x="2862169" y="5448503"/>
                    <a:ext cx="1002774" cy="3395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e>
                          </m:acc>
                          <m:r>
                            <a:rPr lang="en-US" b="0" i="1" smtClean="0">
                              <a:latin typeface="Cambria Math" panose="02040503050406030204" pitchFamily="18" charset="0"/>
                            </a:rPr>
                            <m:t>=</m:t>
                          </m:r>
                          <m:r>
                            <a:rPr lang="en-US" b="0" i="1" smtClean="0">
                              <a:latin typeface="Cambria Math" panose="02040503050406030204" pitchFamily="18" charset="0"/>
                            </a:rPr>
                            <m:t>𝑚</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𝑎</m:t>
                                  </m:r>
                                </m:e>
                              </m:acc>
                            </m:e>
                            <m:sub>
                              <m:r>
                                <a:rPr lang="en-US" b="0" i="1" smtClean="0">
                                  <a:latin typeface="Cambria Math" panose="02040503050406030204" pitchFamily="18" charset="0"/>
                                </a:rPr>
                                <m:t>𝑔</m:t>
                              </m:r>
                            </m:sub>
                          </m:sSub>
                        </m:oMath>
                      </m:oMathPara>
                    </a14:m>
                    <a:endParaRPr lang="en-US" dirty="0"/>
                  </a:p>
                </p:txBody>
              </p:sp>
            </mc:Choice>
            <mc:Fallback xmlns="">
              <p:sp>
                <p:nvSpPr>
                  <p:cNvPr id="34" name="TextBox 33">
                    <a:extLst>
                      <a:ext uri="{FF2B5EF4-FFF2-40B4-BE49-F238E27FC236}">
                        <a16:creationId xmlns:a16="http://schemas.microsoft.com/office/drawing/2014/main" id="{8A951FFE-95A6-3C6E-1D68-192006018CB0}"/>
                      </a:ext>
                    </a:extLst>
                  </p:cNvPr>
                  <p:cNvSpPr txBox="1">
                    <a:spLocks noRot="1" noChangeAspect="1" noMove="1" noResize="1" noEditPoints="1" noAdjustHandles="1" noChangeArrowheads="1" noChangeShapeType="1" noTextEdit="1"/>
                  </p:cNvSpPr>
                  <p:nvPr/>
                </p:nvSpPr>
                <p:spPr>
                  <a:xfrm>
                    <a:off x="2862169" y="5448503"/>
                    <a:ext cx="1002774" cy="339517"/>
                  </a:xfrm>
                  <a:prstGeom prst="rect">
                    <a:avLst/>
                  </a:prstGeom>
                  <a:blipFill>
                    <a:blip r:embed="rId6"/>
                    <a:stretch>
                      <a:fillRect l="-4848" t="-7143" r="-18182" b="-196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3E72993-ED29-12AF-0FD6-3576AD54E16A}"/>
                      </a:ext>
                    </a:extLst>
                  </p:cNvPr>
                  <p:cNvSpPr txBox="1"/>
                  <p:nvPr/>
                </p:nvSpPr>
                <p:spPr>
                  <a:xfrm>
                    <a:off x="3576028" y="4220554"/>
                    <a:ext cx="1846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𝑣</m:t>
                              </m:r>
                            </m:e>
                          </m:acc>
                        </m:oMath>
                      </m:oMathPara>
                    </a14:m>
                    <a:endParaRPr lang="en-US" dirty="0"/>
                  </a:p>
                </p:txBody>
              </p:sp>
            </mc:Choice>
            <mc:Fallback xmlns="">
              <p:sp>
                <p:nvSpPr>
                  <p:cNvPr id="35" name="TextBox 34">
                    <a:extLst>
                      <a:ext uri="{FF2B5EF4-FFF2-40B4-BE49-F238E27FC236}">
                        <a16:creationId xmlns:a16="http://schemas.microsoft.com/office/drawing/2014/main" id="{B3E72993-ED29-12AF-0FD6-3576AD54E16A}"/>
                      </a:ext>
                    </a:extLst>
                  </p:cNvPr>
                  <p:cNvSpPr txBox="1">
                    <a:spLocks noRot="1" noChangeAspect="1" noMove="1" noResize="1" noEditPoints="1" noAdjustHandles="1" noChangeArrowheads="1" noChangeShapeType="1" noTextEdit="1"/>
                  </p:cNvSpPr>
                  <p:nvPr/>
                </p:nvSpPr>
                <p:spPr>
                  <a:xfrm>
                    <a:off x="3576028" y="4220554"/>
                    <a:ext cx="184666" cy="276999"/>
                  </a:xfrm>
                  <a:prstGeom prst="rect">
                    <a:avLst/>
                  </a:prstGeom>
                  <a:blipFill>
                    <a:blip r:embed="rId7"/>
                    <a:stretch>
                      <a:fillRect l="-20000" t="-26667" r="-7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C84382F-72CA-BE68-024D-034C7997E3B2}"/>
                      </a:ext>
                    </a:extLst>
                  </p:cNvPr>
                  <p:cNvSpPr txBox="1"/>
                  <p:nvPr/>
                </p:nvSpPr>
                <p:spPr>
                  <a:xfrm>
                    <a:off x="2202071" y="5902557"/>
                    <a:ext cx="1277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𝑖</m:t>
                              </m:r>
                            </m:e>
                          </m:acc>
                        </m:oMath>
                      </m:oMathPara>
                    </a14:m>
                    <a:endParaRPr lang="en-US" dirty="0"/>
                  </a:p>
                </p:txBody>
              </p:sp>
            </mc:Choice>
            <mc:Fallback xmlns="">
              <p:sp>
                <p:nvSpPr>
                  <p:cNvPr id="36" name="TextBox 35">
                    <a:extLst>
                      <a:ext uri="{FF2B5EF4-FFF2-40B4-BE49-F238E27FC236}">
                        <a16:creationId xmlns:a16="http://schemas.microsoft.com/office/drawing/2014/main" id="{1C84382F-72CA-BE68-024D-034C7997E3B2}"/>
                      </a:ext>
                    </a:extLst>
                  </p:cNvPr>
                  <p:cNvSpPr txBox="1">
                    <a:spLocks noRot="1" noChangeAspect="1" noMove="1" noResize="1" noEditPoints="1" noAdjustHandles="1" noChangeArrowheads="1" noChangeShapeType="1" noTextEdit="1"/>
                  </p:cNvSpPr>
                  <p:nvPr/>
                </p:nvSpPr>
                <p:spPr>
                  <a:xfrm>
                    <a:off x="2202071" y="5902557"/>
                    <a:ext cx="127791" cy="276999"/>
                  </a:xfrm>
                  <a:prstGeom prst="rect">
                    <a:avLst/>
                  </a:prstGeom>
                  <a:blipFill>
                    <a:blip r:embed="rId8"/>
                    <a:stretch>
                      <a:fillRect l="-28571" t="-26667" r="-1476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F052F2C-69C7-E22C-D713-47C5EC357FAE}"/>
                      </a:ext>
                    </a:extLst>
                  </p:cNvPr>
                  <p:cNvSpPr txBox="1"/>
                  <p:nvPr/>
                </p:nvSpPr>
                <p:spPr>
                  <a:xfrm>
                    <a:off x="1719665" y="5421362"/>
                    <a:ext cx="1384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𝑗</m:t>
                              </m:r>
                            </m:e>
                          </m:acc>
                        </m:oMath>
                      </m:oMathPara>
                    </a14:m>
                    <a:endParaRPr lang="en-US" dirty="0"/>
                  </a:p>
                </p:txBody>
              </p:sp>
            </mc:Choice>
            <mc:Fallback xmlns="">
              <p:sp>
                <p:nvSpPr>
                  <p:cNvPr id="37" name="TextBox 36">
                    <a:extLst>
                      <a:ext uri="{FF2B5EF4-FFF2-40B4-BE49-F238E27FC236}">
                        <a16:creationId xmlns:a16="http://schemas.microsoft.com/office/drawing/2014/main" id="{4F052F2C-69C7-E22C-D713-47C5EC357FAE}"/>
                      </a:ext>
                    </a:extLst>
                  </p:cNvPr>
                  <p:cNvSpPr txBox="1">
                    <a:spLocks noRot="1" noChangeAspect="1" noMove="1" noResize="1" noEditPoints="1" noAdjustHandles="1" noChangeArrowheads="1" noChangeShapeType="1" noTextEdit="1"/>
                  </p:cNvSpPr>
                  <p:nvPr/>
                </p:nvSpPr>
                <p:spPr>
                  <a:xfrm>
                    <a:off x="1719665" y="5421362"/>
                    <a:ext cx="138499" cy="276999"/>
                  </a:xfrm>
                  <a:prstGeom prst="rect">
                    <a:avLst/>
                  </a:prstGeom>
                  <a:blipFill>
                    <a:blip r:embed="rId9"/>
                    <a:stretch>
                      <a:fillRect l="-43478" t="-26667" r="-13913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E69ACF7-E169-92B7-804D-D9D7230A1403}"/>
                      </a:ext>
                    </a:extLst>
                  </p:cNvPr>
                  <p:cNvSpPr txBox="1"/>
                  <p:nvPr/>
                </p:nvSpPr>
                <p:spPr>
                  <a:xfrm>
                    <a:off x="2612428" y="5811750"/>
                    <a:ext cx="18332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38" name="TextBox 37">
                    <a:extLst>
                      <a:ext uri="{FF2B5EF4-FFF2-40B4-BE49-F238E27FC236}">
                        <a16:creationId xmlns:a16="http://schemas.microsoft.com/office/drawing/2014/main" id="{6E69ACF7-E169-92B7-804D-D9D7230A1403}"/>
                      </a:ext>
                    </a:extLst>
                  </p:cNvPr>
                  <p:cNvSpPr txBox="1">
                    <a:spLocks noRot="1" noChangeAspect="1" noMove="1" noResize="1" noEditPoints="1" noAdjustHandles="1" noChangeArrowheads="1" noChangeShapeType="1" noTextEdit="1"/>
                  </p:cNvSpPr>
                  <p:nvPr/>
                </p:nvSpPr>
                <p:spPr>
                  <a:xfrm>
                    <a:off x="2612428" y="5811750"/>
                    <a:ext cx="183320" cy="276999"/>
                  </a:xfrm>
                  <a:prstGeom prst="rect">
                    <a:avLst/>
                  </a:prstGeom>
                  <a:blipFill>
                    <a:blip r:embed="rId10"/>
                    <a:stretch>
                      <a:fillRect l="-19355" r="-96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282F2DD-BFD8-D5DF-5A6D-A69ECEBDB51D}"/>
                      </a:ext>
                    </a:extLst>
                  </p:cNvPr>
                  <p:cNvSpPr txBox="1"/>
                  <p:nvPr/>
                </p:nvSpPr>
                <p:spPr>
                  <a:xfrm>
                    <a:off x="1699130" y="4975364"/>
                    <a:ext cx="18671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n-US" dirty="0"/>
                  </a:p>
                </p:txBody>
              </p:sp>
            </mc:Choice>
            <mc:Fallback xmlns="">
              <p:sp>
                <p:nvSpPr>
                  <p:cNvPr id="39" name="TextBox 38">
                    <a:extLst>
                      <a:ext uri="{FF2B5EF4-FFF2-40B4-BE49-F238E27FC236}">
                        <a16:creationId xmlns:a16="http://schemas.microsoft.com/office/drawing/2014/main" id="{1282F2DD-BFD8-D5DF-5A6D-A69ECEBDB51D}"/>
                      </a:ext>
                    </a:extLst>
                  </p:cNvPr>
                  <p:cNvSpPr txBox="1">
                    <a:spLocks noRot="1" noChangeAspect="1" noMove="1" noResize="1" noEditPoints="1" noAdjustHandles="1" noChangeArrowheads="1" noChangeShapeType="1" noTextEdit="1"/>
                  </p:cNvSpPr>
                  <p:nvPr/>
                </p:nvSpPr>
                <p:spPr>
                  <a:xfrm>
                    <a:off x="1699130" y="4975364"/>
                    <a:ext cx="186718" cy="276999"/>
                  </a:xfrm>
                  <a:prstGeom prst="rect">
                    <a:avLst/>
                  </a:prstGeom>
                  <a:blipFill>
                    <a:blip r:embed="rId11"/>
                    <a:stretch>
                      <a:fillRect l="-33333" r="-30000" b="-26667"/>
                    </a:stretch>
                  </a:blipFill>
                </p:spPr>
                <p:txBody>
                  <a:bodyPr/>
                  <a:lstStyle/>
                  <a:p>
                    <a:r>
                      <a:rPr lang="en-US">
                        <a:noFill/>
                      </a:rPr>
                      <a:t> </a:t>
                    </a:r>
                  </a:p>
                </p:txBody>
              </p:sp>
            </mc:Fallback>
          </mc:AlternateContent>
        </p:grpSp>
        <p:sp>
          <p:nvSpPr>
            <p:cNvPr id="23" name="TextBox 22">
              <a:extLst>
                <a:ext uri="{FF2B5EF4-FFF2-40B4-BE49-F238E27FC236}">
                  <a16:creationId xmlns:a16="http://schemas.microsoft.com/office/drawing/2014/main" id="{3252B2F7-B3D9-9B66-0942-9698C701C018}"/>
                </a:ext>
              </a:extLst>
            </p:cNvPr>
            <p:cNvSpPr txBox="1"/>
            <p:nvPr/>
          </p:nvSpPr>
          <p:spPr>
            <a:xfrm>
              <a:off x="1817276" y="3917309"/>
              <a:ext cx="2001125" cy="369332"/>
            </a:xfrm>
            <a:prstGeom prst="rect">
              <a:avLst/>
            </a:prstGeom>
            <a:noFill/>
          </p:spPr>
          <p:txBody>
            <a:bodyPr wrap="none" rtlCol="0">
              <a:spAutoFit/>
            </a:bodyPr>
            <a:lstStyle/>
            <a:p>
              <a:r>
                <a:rPr lang="en-US" dirty="0"/>
                <a:t>Free body diagram:</a:t>
              </a:r>
            </a:p>
          </p:txBody>
        </p:sp>
        <p:sp>
          <p:nvSpPr>
            <p:cNvPr id="24" name="Flowchart: Process 23">
              <a:extLst>
                <a:ext uri="{FF2B5EF4-FFF2-40B4-BE49-F238E27FC236}">
                  <a16:creationId xmlns:a16="http://schemas.microsoft.com/office/drawing/2014/main" id="{5587FBA6-299D-908C-52B9-0CB479808BF4}"/>
                </a:ext>
              </a:extLst>
            </p:cNvPr>
            <p:cNvSpPr/>
            <p:nvPr/>
          </p:nvSpPr>
          <p:spPr>
            <a:xfrm>
              <a:off x="1623772" y="3975137"/>
              <a:ext cx="2343952" cy="2262247"/>
            </a:xfrm>
            <a:prstGeom prst="flowChartProcess">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08595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br>
              <a:rPr lang="en-US" dirty="0"/>
            </a:br>
            <a:r>
              <a:rPr lang="en-US" dirty="0"/>
              <a:t>Projectile Motion through Air</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2782AED-D0D6-A2D6-ECB8-4C6E7F689ABB}"/>
                  </a:ext>
                </a:extLst>
              </p:cNvPr>
              <p:cNvSpPr txBox="1"/>
              <p:nvPr/>
            </p:nvSpPr>
            <p:spPr>
              <a:xfrm>
                <a:off x="1180580" y="5256447"/>
                <a:ext cx="2077107" cy="5464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num>
                        <m:den>
                          <m:r>
                            <a:rPr lang="en-US" i="1">
                              <a:latin typeface="Cambria Math" panose="02040503050406030204" pitchFamily="18" charset="0"/>
                            </a:rPr>
                            <m:t>2</m:t>
                          </m:r>
                          <m:r>
                            <a:rPr lang="en-US" i="1">
                              <a:latin typeface="Cambria Math" panose="02040503050406030204" pitchFamily="18" charset="0"/>
                            </a:rPr>
                            <m:t>𝑚</m:t>
                          </m:r>
                        </m:den>
                      </m:f>
                      <m:acc>
                        <m:accPr>
                          <m:chr m:val="⃑"/>
                          <m:ctrlPr>
                            <a:rPr lang="en-US" i="1">
                              <a:latin typeface="Cambria Math" panose="02040503050406030204" pitchFamily="18" charset="0"/>
                            </a:rPr>
                          </m:ctrlPr>
                        </m:accPr>
                        <m:e>
                          <m:r>
                            <a:rPr lang="en-US" i="1">
                              <a:latin typeface="Cambria Math" panose="02040503050406030204" pitchFamily="18" charset="0"/>
                            </a:rPr>
                            <m:t>𝑣</m:t>
                          </m:r>
                        </m:e>
                      </m:acc>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𝑔</m:t>
                          </m:r>
                        </m:sub>
                      </m:sSub>
                      <m:acc>
                        <m:accPr>
                          <m:chr m:val="̂"/>
                          <m:ctrlPr>
                            <a:rPr lang="en-US" i="1">
                              <a:latin typeface="Cambria Math" panose="02040503050406030204" pitchFamily="18" charset="0"/>
                            </a:rPr>
                          </m:ctrlPr>
                        </m:accPr>
                        <m:e>
                          <m:r>
                            <a:rPr lang="en-US" i="1">
                              <a:latin typeface="Cambria Math" panose="02040503050406030204" pitchFamily="18" charset="0"/>
                            </a:rPr>
                            <m:t>𝑗</m:t>
                          </m:r>
                        </m:e>
                      </m:acc>
                    </m:oMath>
                  </m:oMathPara>
                </a14:m>
                <a:endParaRPr lang="en-US" dirty="0"/>
              </a:p>
            </p:txBody>
          </p:sp>
        </mc:Choice>
        <mc:Fallback>
          <p:sp>
            <p:nvSpPr>
              <p:cNvPr id="4" name="TextBox 3">
                <a:extLst>
                  <a:ext uri="{FF2B5EF4-FFF2-40B4-BE49-F238E27FC236}">
                    <a16:creationId xmlns:a16="http://schemas.microsoft.com/office/drawing/2014/main" id="{C2782AED-D0D6-A2D6-ECB8-4C6E7F689ABB}"/>
                  </a:ext>
                </a:extLst>
              </p:cNvPr>
              <p:cNvSpPr txBox="1">
                <a:spLocks noRot="1" noChangeAspect="1" noMove="1" noResize="1" noEditPoints="1" noAdjustHandles="1" noChangeArrowheads="1" noChangeShapeType="1" noTextEdit="1"/>
              </p:cNvSpPr>
              <p:nvPr/>
            </p:nvSpPr>
            <p:spPr>
              <a:xfrm>
                <a:off x="1180580" y="5256447"/>
                <a:ext cx="2077107" cy="546496"/>
              </a:xfrm>
              <a:prstGeom prst="rect">
                <a:avLst/>
              </a:prstGeom>
              <a:blipFill>
                <a:blip r:embed="rId2"/>
                <a:stretch>
                  <a:fillRect/>
                </a:stretch>
              </a:blipFill>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FB57AD29-690A-3296-9955-26A229BCB226}"/>
              </a:ext>
            </a:extLst>
          </p:cNvPr>
          <p:cNvSpPr txBox="1">
            <a:spLocks/>
          </p:cNvSpPr>
          <p:nvPr/>
        </p:nvSpPr>
        <p:spPr>
          <a:xfrm>
            <a:off x="915128" y="2640378"/>
            <a:ext cx="7313744" cy="67129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To find the acceleration vector acting on the projectile, apply Newton’s second law:</a:t>
            </a:r>
          </a:p>
          <a:p>
            <a:endParaRPr lang="en-US" dirty="0"/>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FBDCD18C-6257-4439-BB83-4C92CD1BEBE9}"/>
                  </a:ext>
                </a:extLst>
              </p:cNvPr>
              <p:cNvSpPr txBox="1"/>
              <p:nvPr/>
            </p:nvSpPr>
            <p:spPr>
              <a:xfrm>
                <a:off x="915128" y="4462715"/>
                <a:ext cx="2803111" cy="63478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𝑎</m:t>
                          </m:r>
                        </m:e>
                      </m:acc>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num>
                        <m:den>
                          <m:r>
                            <a:rPr lang="en-US" sz="1800" b="0" i="1" smtClean="0">
                              <a:latin typeface="Cambria Math" panose="02040503050406030204" pitchFamily="18" charset="0"/>
                            </a:rPr>
                            <m:t>2</m:t>
                          </m:r>
                          <m:r>
                            <a:rPr lang="en-US" sz="1800" b="0" i="1" smtClean="0">
                              <a:latin typeface="Cambria Math" panose="02040503050406030204" pitchFamily="18" charset="0"/>
                            </a:rPr>
                            <m:t>𝑚</m:t>
                          </m:r>
                        </m:den>
                      </m:f>
                      <m:acc>
                        <m:accPr>
                          <m:chr m:val="⃑"/>
                          <m:ctrlPr>
                            <a:rPr lang="en-US" i="1">
                              <a:latin typeface="Cambria Math" panose="02040503050406030204" pitchFamily="18" charset="0"/>
                            </a:rPr>
                          </m:ctrlPr>
                        </m:accPr>
                        <m:e>
                          <m:r>
                            <a:rPr lang="en-US" i="1">
                              <a:latin typeface="Cambria Math" panose="02040503050406030204" pitchFamily="18" charset="0"/>
                            </a:rPr>
                            <m:t>𝑣</m:t>
                          </m:r>
                        </m:e>
                      </m:acc>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𝑔</m:t>
                              </m:r>
                            </m:sub>
                          </m:sSub>
                        </m:num>
                        <m:den>
                          <m:r>
                            <a:rPr lang="en-US" sz="1800" b="0" i="1" smtClean="0">
                              <a:latin typeface="Cambria Math" panose="02040503050406030204" pitchFamily="18" charset="0"/>
                            </a:rPr>
                            <m:t>𝑚</m:t>
                          </m:r>
                        </m:den>
                      </m:f>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𝑗</m:t>
                          </m:r>
                        </m:e>
                      </m:acc>
                    </m:oMath>
                  </m:oMathPara>
                </a14:m>
                <a:endParaRPr lang="en-US" sz="1800" b="0" dirty="0"/>
              </a:p>
            </p:txBody>
          </p:sp>
        </mc:Choice>
        <mc:Fallback>
          <p:sp>
            <p:nvSpPr>
              <p:cNvPr id="8" name="TextBox 7">
                <a:extLst>
                  <a:ext uri="{FF2B5EF4-FFF2-40B4-BE49-F238E27FC236}">
                    <a16:creationId xmlns:a16="http://schemas.microsoft.com/office/drawing/2014/main" id="{FBDCD18C-6257-4439-BB83-4C92CD1BEBE9}"/>
                  </a:ext>
                </a:extLst>
              </p:cNvPr>
              <p:cNvSpPr txBox="1">
                <a:spLocks noRot="1" noChangeAspect="1" noMove="1" noResize="1" noEditPoints="1" noAdjustHandles="1" noChangeArrowheads="1" noChangeShapeType="1" noTextEdit="1"/>
              </p:cNvSpPr>
              <p:nvPr/>
            </p:nvSpPr>
            <p:spPr>
              <a:xfrm>
                <a:off x="915128" y="4462715"/>
                <a:ext cx="2803111" cy="63478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4F1450A-F00E-1253-2965-8FC591B0C0CD}"/>
                  </a:ext>
                </a:extLst>
              </p:cNvPr>
              <p:cNvSpPr txBox="1"/>
              <p:nvPr/>
            </p:nvSpPr>
            <p:spPr>
              <a:xfrm>
                <a:off x="969813" y="3311673"/>
                <a:ext cx="2181366"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𝑚𝑎</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oMath>
                  </m:oMathPara>
                </a14:m>
                <a:endParaRPr lang="en-US" dirty="0"/>
              </a:p>
            </p:txBody>
          </p:sp>
        </mc:Choice>
        <mc:Fallback>
          <p:sp>
            <p:nvSpPr>
              <p:cNvPr id="3" name="TextBox 2">
                <a:extLst>
                  <a:ext uri="{FF2B5EF4-FFF2-40B4-BE49-F238E27FC236}">
                    <a16:creationId xmlns:a16="http://schemas.microsoft.com/office/drawing/2014/main" id="{24F1450A-F00E-1253-2965-8FC591B0C0CD}"/>
                  </a:ext>
                </a:extLst>
              </p:cNvPr>
              <p:cNvSpPr txBox="1">
                <a:spLocks noRot="1" noChangeAspect="1" noMove="1" noResize="1" noEditPoints="1" noAdjustHandles="1" noChangeArrowheads="1" noChangeShapeType="1" noTextEdit="1"/>
              </p:cNvSpPr>
              <p:nvPr/>
            </p:nvSpPr>
            <p:spPr>
              <a:xfrm>
                <a:off x="969813" y="3311673"/>
                <a:ext cx="2181366" cy="276999"/>
              </a:xfrm>
              <a:prstGeom prst="rect">
                <a:avLst/>
              </a:prstGeom>
              <a:blipFill>
                <a:blip r:embed="rId4"/>
                <a:stretch>
                  <a:fillRect l="-1955" t="-2174" r="-1117" b="-32609"/>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EB93A078-AD57-A2A4-E99A-914E7048FB59}"/>
              </a:ext>
            </a:extLst>
          </p:cNvPr>
          <p:cNvSpPr txBox="1">
            <a:spLocks/>
          </p:cNvSpPr>
          <p:nvPr/>
        </p:nvSpPr>
        <p:spPr>
          <a:xfrm>
            <a:off x="874632" y="3962837"/>
            <a:ext cx="7313744" cy="42162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Thus, acceleration of projectile given by:</a:t>
            </a:r>
          </a:p>
          <a:p>
            <a:endParaRPr lang="en-US" dirty="0"/>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2EA2A74-BD3A-1AA2-EC28-FC45CA101C03}"/>
                  </a:ext>
                </a:extLst>
              </p:cNvPr>
              <p:cNvSpPr txBox="1"/>
              <p:nvPr/>
            </p:nvSpPr>
            <p:spPr>
              <a:xfrm>
                <a:off x="969813" y="1751536"/>
                <a:ext cx="2803111" cy="61093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𝐹</m:t>
                          </m:r>
                        </m:e>
                      </m:acc>
                      <m:r>
                        <a:rPr lang="en-US" sz="1800"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acc>
                        <m:accPr>
                          <m:chr m:val="⃑"/>
                          <m:ctrlPr>
                            <a:rPr lang="en-US" i="1">
                              <a:latin typeface="Cambria Math" panose="02040503050406030204" pitchFamily="18" charset="0"/>
                            </a:rPr>
                          </m:ctrlPr>
                        </m:accPr>
                        <m:e>
                          <m:r>
                            <a:rPr lang="en-US" i="1">
                              <a:latin typeface="Cambria Math" panose="02040503050406030204" pitchFamily="18" charset="0"/>
                            </a:rPr>
                            <m:t>𝑣</m:t>
                          </m:r>
                        </m:e>
                      </m:acc>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𝐹</m:t>
                          </m:r>
                        </m:e>
                        <m:sub>
                          <m:r>
                            <a:rPr lang="en-US" sz="1800" b="0" i="1" smtClean="0">
                              <a:latin typeface="Cambria Math" panose="02040503050406030204" pitchFamily="18" charset="0"/>
                            </a:rPr>
                            <m:t>𝑔</m:t>
                          </m:r>
                        </m:sub>
                      </m:sSub>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𝑗</m:t>
                          </m:r>
                        </m:e>
                      </m:acc>
                    </m:oMath>
                  </m:oMathPara>
                </a14:m>
                <a:endParaRPr lang="en-US" sz="1800" b="0" dirty="0"/>
              </a:p>
            </p:txBody>
          </p:sp>
        </mc:Choice>
        <mc:Fallback>
          <p:sp>
            <p:nvSpPr>
              <p:cNvPr id="11" name="TextBox 10">
                <a:extLst>
                  <a:ext uri="{FF2B5EF4-FFF2-40B4-BE49-F238E27FC236}">
                    <a16:creationId xmlns:a16="http://schemas.microsoft.com/office/drawing/2014/main" id="{E2EA2A74-BD3A-1AA2-EC28-FC45CA101C03}"/>
                  </a:ext>
                </a:extLst>
              </p:cNvPr>
              <p:cNvSpPr txBox="1">
                <a:spLocks noRot="1" noChangeAspect="1" noMove="1" noResize="1" noEditPoints="1" noAdjustHandles="1" noChangeArrowheads="1" noChangeShapeType="1" noTextEdit="1"/>
              </p:cNvSpPr>
              <p:nvPr/>
            </p:nvSpPr>
            <p:spPr>
              <a:xfrm>
                <a:off x="969813" y="1751536"/>
                <a:ext cx="2803111" cy="61093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20326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br>
              <a:rPr lang="en-US" dirty="0"/>
            </a:br>
            <a:r>
              <a:rPr lang="en-US" dirty="0"/>
              <a:t>Projectile Motion through Air</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FD02D7E-9C6C-73B9-1B32-80253DDFB16F}"/>
                  </a:ext>
                </a:extLst>
              </p:cNvPr>
              <p:cNvSpPr txBox="1"/>
              <p:nvPr/>
            </p:nvSpPr>
            <p:spPr>
              <a:xfrm>
                <a:off x="905435" y="1999129"/>
                <a:ext cx="3459730" cy="369332"/>
              </a:xfrm>
              <a:prstGeom prst="rect">
                <a:avLst/>
              </a:prstGeom>
              <a:noFill/>
            </p:spPr>
            <p:txBody>
              <a:bodyPr wrap="none" rtlCol="0">
                <a:spAutoFit/>
              </a:bodyPr>
              <a:lstStyle/>
              <a:p>
                <a:r>
                  <a:rPr lang="en-US" dirty="0"/>
                  <a:t>Decompose </a:t>
                </a: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𝑎</m:t>
                        </m:r>
                      </m:e>
                    </m:acc>
                  </m:oMath>
                </a14:m>
                <a:r>
                  <a:rPr lang="en-US" dirty="0"/>
                  <a:t> into its components:</a:t>
                </a:r>
              </a:p>
            </p:txBody>
          </p:sp>
        </mc:Choice>
        <mc:Fallback xmlns="">
          <p:sp>
            <p:nvSpPr>
              <p:cNvPr id="3" name="TextBox 2">
                <a:extLst>
                  <a:ext uri="{FF2B5EF4-FFF2-40B4-BE49-F238E27FC236}">
                    <a16:creationId xmlns:a16="http://schemas.microsoft.com/office/drawing/2014/main" id="{0FD02D7E-9C6C-73B9-1B32-80253DDFB16F}"/>
                  </a:ext>
                </a:extLst>
              </p:cNvPr>
              <p:cNvSpPr txBox="1">
                <a:spLocks noRot="1" noChangeAspect="1" noMove="1" noResize="1" noEditPoints="1" noAdjustHandles="1" noChangeArrowheads="1" noChangeShapeType="1" noTextEdit="1"/>
              </p:cNvSpPr>
              <p:nvPr/>
            </p:nvSpPr>
            <p:spPr>
              <a:xfrm>
                <a:off x="905435" y="1999129"/>
                <a:ext cx="3459730" cy="369332"/>
              </a:xfrm>
              <a:prstGeom prst="rect">
                <a:avLst/>
              </a:prstGeom>
              <a:blipFill>
                <a:blip r:embed="rId2"/>
                <a:stretch>
                  <a:fillRect l="-1587" t="-9836" r="-1058"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4EAABE0-78BC-C0D6-CC3F-EAD2C1732E82}"/>
                  </a:ext>
                </a:extLst>
              </p:cNvPr>
              <p:cNvSpPr txBox="1"/>
              <p:nvPr/>
            </p:nvSpPr>
            <p:spPr>
              <a:xfrm>
                <a:off x="1004047" y="2499930"/>
                <a:ext cx="1415323"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𝑎</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i="1" smtClean="0">
                              <a:latin typeface="Cambria Math" panose="02040503050406030204" pitchFamily="18" charset="0"/>
                            </a:rPr>
                            <m:t>𝑎</m:t>
                          </m:r>
                        </m:e>
                        <m:sub>
                          <m:r>
                            <a:rPr lang="en-US" b="0" i="1" smtClean="0">
                              <a:latin typeface="Cambria Math" panose="02040503050406030204" pitchFamily="18" charset="0"/>
                            </a:rPr>
                            <m:t>𝑥</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𝑖</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𝑦</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𝑗</m:t>
                          </m:r>
                        </m:e>
                      </m:acc>
                    </m:oMath>
                  </m:oMathPara>
                </a14:m>
                <a:endParaRPr lang="en-US" dirty="0"/>
              </a:p>
            </p:txBody>
          </p:sp>
        </mc:Choice>
        <mc:Fallback xmlns="">
          <p:sp>
            <p:nvSpPr>
              <p:cNvPr id="4" name="TextBox 3">
                <a:extLst>
                  <a:ext uri="{FF2B5EF4-FFF2-40B4-BE49-F238E27FC236}">
                    <a16:creationId xmlns:a16="http://schemas.microsoft.com/office/drawing/2014/main" id="{04EAABE0-78BC-C0D6-CC3F-EAD2C1732E82}"/>
                  </a:ext>
                </a:extLst>
              </p:cNvPr>
              <p:cNvSpPr txBox="1">
                <a:spLocks noRot="1" noChangeAspect="1" noMove="1" noResize="1" noEditPoints="1" noAdjustHandles="1" noChangeArrowheads="1" noChangeShapeType="1" noTextEdit="1"/>
              </p:cNvSpPr>
              <p:nvPr/>
            </p:nvSpPr>
            <p:spPr>
              <a:xfrm>
                <a:off x="1004047" y="2499930"/>
                <a:ext cx="1415323" cy="298928"/>
              </a:xfrm>
              <a:prstGeom prst="rect">
                <a:avLst/>
              </a:prstGeom>
              <a:blipFill>
                <a:blip r:embed="rId3"/>
                <a:stretch>
                  <a:fillRect l="-2155" t="-20408" r="-23276" b="-20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F522432-F6FE-0BC0-8761-6F7C7A9BCB8B}"/>
                  </a:ext>
                </a:extLst>
              </p:cNvPr>
              <p:cNvSpPr txBox="1"/>
              <p:nvPr/>
            </p:nvSpPr>
            <p:spPr>
              <a:xfrm>
                <a:off x="1202050" y="2930327"/>
                <a:ext cx="4188711"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num>
                        <m:den>
                          <m:r>
                            <a:rPr lang="en-US" i="1">
                              <a:latin typeface="Cambria Math" panose="02040503050406030204" pitchFamily="18" charset="0"/>
                            </a:rPr>
                            <m:t>2</m:t>
                          </m:r>
                          <m:r>
                            <a:rPr lang="en-US" i="1">
                              <a:latin typeface="Cambria Math" panose="02040503050406030204" pitchFamily="18" charset="0"/>
                            </a:rPr>
                            <m:t>𝑚</m:t>
                          </m:r>
                        </m:den>
                      </m:f>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𝑖</m:t>
                          </m:r>
                        </m:e>
                      </m:acc>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𝑦</m:t>
                                  </m:r>
                                </m:sub>
                              </m:sSub>
                            </m:num>
                            <m:den>
                              <m:r>
                                <a:rPr lang="en-US" i="1">
                                  <a:latin typeface="Cambria Math" panose="02040503050406030204" pitchFamily="18" charset="0"/>
                                </a:rPr>
                                <m:t>2</m:t>
                              </m:r>
                              <m:r>
                                <a:rPr lang="en-US" i="1">
                                  <a:latin typeface="Cambria Math" panose="02040503050406030204" pitchFamily="18" charset="0"/>
                                </a:rPr>
                                <m:t>𝑚</m:t>
                              </m:r>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𝑔</m:t>
                              </m:r>
                            </m:sub>
                          </m:sSub>
                        </m:e>
                      </m:d>
                      <m:acc>
                        <m:accPr>
                          <m:chr m:val="̂"/>
                          <m:ctrlPr>
                            <a:rPr lang="en-US" i="1">
                              <a:latin typeface="Cambria Math" panose="02040503050406030204" pitchFamily="18" charset="0"/>
                            </a:rPr>
                          </m:ctrlPr>
                        </m:accPr>
                        <m:e>
                          <m:r>
                            <a:rPr lang="en-US" i="1">
                              <a:latin typeface="Cambria Math" panose="02040503050406030204" pitchFamily="18" charset="0"/>
                            </a:rPr>
                            <m:t>𝑗</m:t>
                          </m:r>
                        </m:e>
                      </m:acc>
                    </m:oMath>
                  </m:oMathPara>
                </a14:m>
                <a:endParaRPr lang="en-US" dirty="0"/>
              </a:p>
            </p:txBody>
          </p:sp>
        </mc:Choice>
        <mc:Fallback xmlns="">
          <p:sp>
            <p:nvSpPr>
              <p:cNvPr id="5" name="TextBox 4">
                <a:extLst>
                  <a:ext uri="{FF2B5EF4-FFF2-40B4-BE49-F238E27FC236}">
                    <a16:creationId xmlns:a16="http://schemas.microsoft.com/office/drawing/2014/main" id="{CF522432-F6FE-0BC0-8761-6F7C7A9BCB8B}"/>
                  </a:ext>
                </a:extLst>
              </p:cNvPr>
              <p:cNvSpPr txBox="1">
                <a:spLocks noRot="1" noChangeAspect="1" noMove="1" noResize="1" noEditPoints="1" noAdjustHandles="1" noChangeArrowheads="1" noChangeShapeType="1" noTextEdit="1"/>
              </p:cNvSpPr>
              <p:nvPr/>
            </p:nvSpPr>
            <p:spPr>
              <a:xfrm>
                <a:off x="1202050" y="2930327"/>
                <a:ext cx="4188711" cy="622350"/>
              </a:xfrm>
              <a:prstGeom prst="rect">
                <a:avLst/>
              </a:prstGeom>
              <a:blipFill>
                <a:blip r:embed="rId4"/>
                <a:stretch>
                  <a:fillRect b="-980"/>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8306C273-4658-ACB8-1B76-A1D1CED8D949}"/>
              </a:ext>
            </a:extLst>
          </p:cNvPr>
          <p:cNvSpPr txBox="1"/>
          <p:nvPr/>
        </p:nvSpPr>
        <p:spPr>
          <a:xfrm>
            <a:off x="901368" y="4807796"/>
            <a:ext cx="688009" cy="369332"/>
          </a:xfrm>
          <a:prstGeom prst="rect">
            <a:avLst/>
          </a:prstGeom>
          <a:noFill/>
        </p:spPr>
        <p:txBody>
          <a:bodyPr wrap="none" rtlCol="0">
            <a:spAutoFit/>
          </a:bodyPr>
          <a:lstStyle/>
          <a:p>
            <a:r>
              <a:rPr lang="en-US" dirty="0"/>
              <a:t>Thus,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28CF45B-6C75-0382-71B5-6AB6311486FE}"/>
                  </a:ext>
                </a:extLst>
              </p:cNvPr>
              <p:cNvSpPr txBox="1"/>
              <p:nvPr/>
            </p:nvSpPr>
            <p:spPr>
              <a:xfrm>
                <a:off x="1004047" y="5081072"/>
                <a:ext cx="2971391" cy="9149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a:latin typeface="Cambria Math" panose="02040503050406030204" pitchFamily="18" charset="0"/>
                                </a:rPr>
                                <m:t>𝑎</m:t>
                              </m:r>
                            </m:e>
                          </m:acc>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2</m:t>
                                  </m:r>
                                </m:sup>
                              </m:sSubSup>
                            </m:e>
                          </m:rad>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num>
                        <m:den>
                          <m:r>
                            <a:rPr lang="en-US" i="1">
                              <a:latin typeface="Cambria Math" panose="02040503050406030204" pitchFamily="18" charset="0"/>
                            </a:rPr>
                            <m:t>2</m:t>
                          </m:r>
                          <m:r>
                            <a:rPr lang="en-US" i="1">
                              <a:latin typeface="Cambria Math" panose="02040503050406030204" pitchFamily="18" charset="0"/>
                            </a:rPr>
                            <m:t>𝑚</m:t>
                          </m:r>
                        </m:den>
                      </m:f>
                    </m:oMath>
                  </m:oMathPara>
                </a14:m>
                <a:endParaRPr lang="en-US" dirty="0"/>
              </a:p>
            </p:txBody>
          </p:sp>
        </mc:Choice>
        <mc:Fallback xmlns="">
          <p:sp>
            <p:nvSpPr>
              <p:cNvPr id="11" name="TextBox 10">
                <a:extLst>
                  <a:ext uri="{FF2B5EF4-FFF2-40B4-BE49-F238E27FC236}">
                    <a16:creationId xmlns:a16="http://schemas.microsoft.com/office/drawing/2014/main" id="{028CF45B-6C75-0382-71B5-6AB6311486FE}"/>
                  </a:ext>
                </a:extLst>
              </p:cNvPr>
              <p:cNvSpPr txBox="1">
                <a:spLocks noRot="1" noChangeAspect="1" noMove="1" noResize="1" noEditPoints="1" noAdjustHandles="1" noChangeArrowheads="1" noChangeShapeType="1" noTextEdit="1"/>
              </p:cNvSpPr>
              <p:nvPr/>
            </p:nvSpPr>
            <p:spPr>
              <a:xfrm>
                <a:off x="1004047" y="5081072"/>
                <a:ext cx="2971391" cy="91493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0CC2445-3376-E445-044B-6A27B3946660}"/>
                  </a:ext>
                </a:extLst>
              </p:cNvPr>
              <p:cNvSpPr txBox="1"/>
              <p:nvPr/>
            </p:nvSpPr>
            <p:spPr>
              <a:xfrm>
                <a:off x="4467844" y="5046511"/>
                <a:ext cx="3774788" cy="9149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i="1">
                                  <a:latin typeface="Cambria Math" panose="02040503050406030204" pitchFamily="18" charset="0"/>
                                </a:rPr>
                                <m:t>𝑎</m:t>
                              </m:r>
                            </m:e>
                          </m:acc>
                        </m:e>
                        <m:sub>
                          <m:r>
                            <a:rPr lang="en-US" b="0" i="1" smtClean="0">
                              <a:latin typeface="Cambria Math" panose="02040503050406030204" pitchFamily="18" charset="0"/>
                            </a:rPr>
                            <m:t>𝑦</m:t>
                          </m:r>
                        </m:sub>
                      </m:sSub>
                      <m:r>
                        <a:rPr lang="en-US" b="0" i="1" smtClean="0">
                          <a:latin typeface="Cambria Math" panose="02040503050406030204" pitchFamily="18" charset="0"/>
                        </a:rPr>
                        <m:t>=</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2</m:t>
                                  </m:r>
                                </m:sup>
                              </m:sSubSup>
                            </m:e>
                          </m:rad>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𝑦</m:t>
                              </m:r>
                            </m:sub>
                          </m:sSub>
                        </m:num>
                        <m:den>
                          <m:r>
                            <a:rPr lang="en-US" i="1">
                              <a:latin typeface="Cambria Math" panose="02040503050406030204" pitchFamily="18" charset="0"/>
                            </a:rPr>
                            <m:t>2</m:t>
                          </m:r>
                          <m:r>
                            <a:rPr lang="en-US" i="1">
                              <a:latin typeface="Cambria Math" panose="02040503050406030204" pitchFamily="18" charset="0"/>
                            </a:rPr>
                            <m:t>𝑚</m:t>
                          </m:r>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𝑔</m:t>
                          </m:r>
                        </m:sub>
                      </m:sSub>
                    </m:oMath>
                  </m:oMathPara>
                </a14:m>
                <a:endParaRPr lang="en-US" dirty="0"/>
              </a:p>
            </p:txBody>
          </p:sp>
        </mc:Choice>
        <mc:Fallback xmlns="">
          <p:sp>
            <p:nvSpPr>
              <p:cNvPr id="12" name="TextBox 11">
                <a:extLst>
                  <a:ext uri="{FF2B5EF4-FFF2-40B4-BE49-F238E27FC236}">
                    <a16:creationId xmlns:a16="http://schemas.microsoft.com/office/drawing/2014/main" id="{10CC2445-3376-E445-044B-6A27B3946660}"/>
                  </a:ext>
                </a:extLst>
              </p:cNvPr>
              <p:cNvSpPr txBox="1">
                <a:spLocks noRot="1" noChangeAspect="1" noMove="1" noResize="1" noEditPoints="1" noAdjustHandles="1" noChangeArrowheads="1" noChangeShapeType="1" noTextEdit="1"/>
              </p:cNvSpPr>
              <p:nvPr/>
            </p:nvSpPr>
            <p:spPr>
              <a:xfrm>
                <a:off x="4467844" y="5046511"/>
                <a:ext cx="3774788" cy="914930"/>
              </a:xfrm>
              <a:prstGeom prst="rect">
                <a:avLst/>
              </a:prstGeom>
              <a:blipFill>
                <a:blip r:embed="rId6"/>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7129B937-2EE2-8AC0-456C-3484BB18376A}"/>
              </a:ext>
            </a:extLst>
          </p:cNvPr>
          <p:cNvSpPr txBox="1"/>
          <p:nvPr/>
        </p:nvSpPr>
        <p:spPr>
          <a:xfrm>
            <a:off x="901368" y="3522820"/>
            <a:ext cx="779572" cy="369332"/>
          </a:xfrm>
          <a:prstGeom prst="rect">
            <a:avLst/>
          </a:prstGeom>
          <a:noFill/>
        </p:spPr>
        <p:txBody>
          <a:bodyPr wrap="none" rtlCol="0">
            <a:spAutoFit/>
          </a:bodyPr>
          <a:lstStyle/>
          <a:p>
            <a:r>
              <a:rPr lang="en-US" dirty="0"/>
              <a:t>where</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505FA83-8E80-EC51-2561-C325D67FA0F0}"/>
                  </a:ext>
                </a:extLst>
              </p:cNvPr>
              <p:cNvSpPr txBox="1"/>
              <p:nvPr/>
            </p:nvSpPr>
            <p:spPr>
              <a:xfrm>
                <a:off x="901368" y="3786536"/>
                <a:ext cx="1736494" cy="65601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i="1" smtClean="0">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𝑥</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𝑦</m:t>
                              </m:r>
                            </m:sub>
                            <m:sup>
                              <m:r>
                                <a:rPr lang="en-US" b="0" i="1" smtClean="0">
                                  <a:latin typeface="Cambria Math" panose="02040503050406030204" pitchFamily="18" charset="0"/>
                                </a:rPr>
                                <m:t>2</m:t>
                              </m:r>
                            </m:sup>
                          </m:sSubSup>
                        </m:e>
                      </m:rad>
                    </m:oMath>
                  </m:oMathPara>
                </a14:m>
                <a:endParaRPr lang="en-US" dirty="0"/>
              </a:p>
            </p:txBody>
          </p:sp>
        </mc:Choice>
        <mc:Fallback xmlns="">
          <p:sp>
            <p:nvSpPr>
              <p:cNvPr id="15" name="TextBox 14">
                <a:extLst>
                  <a:ext uri="{FF2B5EF4-FFF2-40B4-BE49-F238E27FC236}">
                    <a16:creationId xmlns:a16="http://schemas.microsoft.com/office/drawing/2014/main" id="{5505FA83-8E80-EC51-2561-C325D67FA0F0}"/>
                  </a:ext>
                </a:extLst>
              </p:cNvPr>
              <p:cNvSpPr txBox="1">
                <a:spLocks noRot="1" noChangeAspect="1" noMove="1" noResize="1" noEditPoints="1" noAdjustHandles="1" noChangeArrowheads="1" noChangeShapeType="1" noTextEdit="1"/>
              </p:cNvSpPr>
              <p:nvPr/>
            </p:nvSpPr>
            <p:spPr>
              <a:xfrm>
                <a:off x="901368" y="3786536"/>
                <a:ext cx="1736494" cy="656013"/>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43681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br>
              <a:rPr lang="en-US" dirty="0"/>
            </a:br>
            <a:r>
              <a:rPr lang="en-US" dirty="0"/>
              <a:t>Projectile Motion through Air</a:t>
            </a:r>
          </a:p>
        </p:txBody>
      </p:sp>
      <p:sp>
        <p:nvSpPr>
          <p:cNvPr id="3" name="TextBox 2">
            <a:extLst>
              <a:ext uri="{FF2B5EF4-FFF2-40B4-BE49-F238E27FC236}">
                <a16:creationId xmlns:a16="http://schemas.microsoft.com/office/drawing/2014/main" id="{CC460D4E-06C7-6940-DEE2-32CA83AEBF87}"/>
              </a:ext>
            </a:extLst>
          </p:cNvPr>
          <p:cNvSpPr txBox="1"/>
          <p:nvPr/>
        </p:nvSpPr>
        <p:spPr>
          <a:xfrm>
            <a:off x="822959" y="1887069"/>
            <a:ext cx="5279522" cy="369332"/>
          </a:xfrm>
          <a:prstGeom prst="rect">
            <a:avLst/>
          </a:prstGeom>
          <a:noFill/>
        </p:spPr>
        <p:txBody>
          <a:bodyPr wrap="none" rtlCol="0">
            <a:spAutoFit/>
          </a:bodyPr>
          <a:lstStyle/>
          <a:p>
            <a:r>
              <a:rPr lang="en-US" dirty="0"/>
              <a:t>Acceleration of projectile in terms of velocity given by:</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42FABA7-960B-265F-3797-B064BE85AEBB}"/>
                  </a:ext>
                </a:extLst>
              </p:cNvPr>
              <p:cNvSpPr txBox="1"/>
              <p:nvPr/>
            </p:nvSpPr>
            <p:spPr>
              <a:xfrm>
                <a:off x="894677" y="2228348"/>
                <a:ext cx="3389133" cy="82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𝑥</m:t>
                          </m:r>
                        </m:sub>
                      </m:sSub>
                      <m:r>
                        <a:rPr lang="en-US" i="1">
                          <a:latin typeface="Cambria Math" panose="02040503050406030204" pitchFamily="18" charset="0"/>
                        </a:rPr>
                        <m:t> </m:t>
                      </m:r>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2</m:t>
                                  </m:r>
                                </m:sup>
                              </m:sSubSup>
                            </m:e>
                          </m:rad>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num>
                        <m:den>
                          <m:r>
                            <a:rPr lang="en-US" i="1">
                              <a:latin typeface="Cambria Math" panose="02040503050406030204" pitchFamily="18" charset="0"/>
                            </a:rPr>
                            <m:t>2</m:t>
                          </m:r>
                          <m:r>
                            <a:rPr lang="en-US" i="1">
                              <a:latin typeface="Cambria Math" panose="02040503050406030204" pitchFamily="18" charset="0"/>
                            </a:rPr>
                            <m:t>𝑚</m:t>
                          </m:r>
                        </m:den>
                      </m:f>
                    </m:oMath>
                  </m:oMathPara>
                </a14:m>
                <a:endParaRPr lang="en-US" dirty="0"/>
              </a:p>
            </p:txBody>
          </p:sp>
        </mc:Choice>
        <mc:Fallback xmlns="">
          <p:sp>
            <p:nvSpPr>
              <p:cNvPr id="5" name="TextBox 4">
                <a:extLst>
                  <a:ext uri="{FF2B5EF4-FFF2-40B4-BE49-F238E27FC236}">
                    <a16:creationId xmlns:a16="http://schemas.microsoft.com/office/drawing/2014/main" id="{742FABA7-960B-265F-3797-B064BE85AEBB}"/>
                  </a:ext>
                </a:extLst>
              </p:cNvPr>
              <p:cNvSpPr txBox="1">
                <a:spLocks noRot="1" noChangeAspect="1" noMove="1" noResize="1" noEditPoints="1" noAdjustHandles="1" noChangeArrowheads="1" noChangeShapeType="1" noTextEdit="1"/>
              </p:cNvSpPr>
              <p:nvPr/>
            </p:nvSpPr>
            <p:spPr>
              <a:xfrm>
                <a:off x="894677" y="2228348"/>
                <a:ext cx="3389133" cy="82259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318F19-EC08-FFE8-0F2B-CD47416C5036}"/>
                  </a:ext>
                </a:extLst>
              </p:cNvPr>
              <p:cNvSpPr txBox="1"/>
              <p:nvPr/>
            </p:nvSpPr>
            <p:spPr>
              <a:xfrm>
                <a:off x="894677" y="3210754"/>
                <a:ext cx="3822328" cy="82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𝑦</m:t>
                          </m:r>
                        </m:sub>
                      </m:sSub>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𝑦</m:t>
                              </m:r>
                            </m:sub>
                          </m:sSub>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sub>
                                <m:sup>
                                  <m:r>
                                    <a:rPr lang="en-US" i="1">
                                      <a:latin typeface="Cambria Math" panose="02040503050406030204" pitchFamily="18" charset="0"/>
                                    </a:rPr>
                                    <m:t>2</m:t>
                                  </m:r>
                                </m:sup>
                              </m:sSubSup>
                            </m:e>
                          </m:rad>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𝑦</m:t>
                              </m:r>
                            </m:sub>
                          </m:sSub>
                        </m:num>
                        <m:den>
                          <m:r>
                            <a:rPr lang="en-US" i="1">
                              <a:latin typeface="Cambria Math" panose="02040503050406030204" pitchFamily="18" charset="0"/>
                            </a:rPr>
                            <m:t>2</m:t>
                          </m:r>
                          <m:r>
                            <a:rPr lang="en-US" i="1">
                              <a:latin typeface="Cambria Math" panose="02040503050406030204" pitchFamily="18" charset="0"/>
                            </a:rPr>
                            <m:t>𝑚</m:t>
                          </m:r>
                        </m:den>
                      </m:f>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𝑔</m:t>
                          </m:r>
                        </m:sub>
                      </m:sSub>
                    </m:oMath>
                  </m:oMathPara>
                </a14:m>
                <a:endParaRPr lang="en-US" dirty="0"/>
              </a:p>
            </p:txBody>
          </p:sp>
        </mc:Choice>
        <mc:Fallback xmlns="">
          <p:sp>
            <p:nvSpPr>
              <p:cNvPr id="6" name="TextBox 5">
                <a:extLst>
                  <a:ext uri="{FF2B5EF4-FFF2-40B4-BE49-F238E27FC236}">
                    <a16:creationId xmlns:a16="http://schemas.microsoft.com/office/drawing/2014/main" id="{48318F19-EC08-FFE8-0F2B-CD47416C5036}"/>
                  </a:ext>
                </a:extLst>
              </p:cNvPr>
              <p:cNvSpPr txBox="1">
                <a:spLocks noRot="1" noChangeAspect="1" noMove="1" noResize="1" noEditPoints="1" noAdjustHandles="1" noChangeArrowheads="1" noChangeShapeType="1" noTextEdit="1"/>
              </p:cNvSpPr>
              <p:nvPr/>
            </p:nvSpPr>
            <p:spPr>
              <a:xfrm>
                <a:off x="894677" y="3210754"/>
                <a:ext cx="3822328" cy="822597"/>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161A148-495E-B395-F7A3-C038BA0FF306}"/>
              </a:ext>
            </a:extLst>
          </p:cNvPr>
          <p:cNvSpPr txBox="1"/>
          <p:nvPr/>
        </p:nvSpPr>
        <p:spPr>
          <a:xfrm>
            <a:off x="822959" y="4094728"/>
            <a:ext cx="7926594" cy="923330"/>
          </a:xfrm>
          <a:prstGeom prst="rect">
            <a:avLst/>
          </a:prstGeom>
          <a:noFill/>
        </p:spPr>
        <p:txBody>
          <a:bodyPr wrap="square" rtlCol="0">
            <a:spAutoFit/>
          </a:bodyPr>
          <a:lstStyle/>
          <a:p>
            <a:r>
              <a:rPr lang="en-US" dirty="0"/>
              <a:t>These equations cannot be integrated to yield velocity components because they are nonlinear and coupled, so all we can say about the velocity of the projectile in terms of position is that…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057BC09-45D6-1B29-80AD-8784FBDCBE8E}"/>
                  </a:ext>
                </a:extLst>
              </p:cNvPr>
              <p:cNvSpPr txBox="1"/>
              <p:nvPr/>
            </p:nvSpPr>
            <p:spPr>
              <a:xfrm>
                <a:off x="894677" y="4987704"/>
                <a:ext cx="1219200" cy="6365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i="1">
                              <a:latin typeface="Cambria Math" panose="02040503050406030204" pitchFamily="18" charset="0"/>
                            </a:rPr>
                            <m:t>𝑥</m:t>
                          </m:r>
                        </m:sub>
                      </m:sSub>
                      <m:r>
                        <a:rPr lang="en-US" i="1">
                          <a:latin typeface="Cambria Math" panose="02040503050406030204" pitchFamily="18" charset="0"/>
                        </a:rPr>
                        <m:t> </m:t>
                      </m:r>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𝑥</m:t>
                              </m:r>
                            </m:sub>
                          </m:sSub>
                        </m:num>
                        <m:den>
                          <m:r>
                            <a:rPr lang="en-US" b="0" i="1" smtClean="0">
                              <a:latin typeface="Cambria Math" panose="02040503050406030204" pitchFamily="18" charset="0"/>
                            </a:rPr>
                            <m:t>𝑑𝑡</m:t>
                          </m:r>
                        </m:den>
                      </m:f>
                    </m:oMath>
                  </m:oMathPara>
                </a14:m>
                <a:endParaRPr lang="en-US" dirty="0"/>
              </a:p>
            </p:txBody>
          </p:sp>
        </mc:Choice>
        <mc:Fallback xmlns="">
          <p:sp>
            <p:nvSpPr>
              <p:cNvPr id="9" name="TextBox 8">
                <a:extLst>
                  <a:ext uri="{FF2B5EF4-FFF2-40B4-BE49-F238E27FC236}">
                    <a16:creationId xmlns:a16="http://schemas.microsoft.com/office/drawing/2014/main" id="{A057BC09-45D6-1B29-80AD-8784FBDCBE8E}"/>
                  </a:ext>
                </a:extLst>
              </p:cNvPr>
              <p:cNvSpPr txBox="1">
                <a:spLocks noRot="1" noChangeAspect="1" noMove="1" noResize="1" noEditPoints="1" noAdjustHandles="1" noChangeArrowheads="1" noChangeShapeType="1" noTextEdit="1"/>
              </p:cNvSpPr>
              <p:nvPr/>
            </p:nvSpPr>
            <p:spPr>
              <a:xfrm>
                <a:off x="894677" y="4987704"/>
                <a:ext cx="1219200" cy="63658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E044264-3140-6894-8675-9F8A95129C61}"/>
                  </a:ext>
                </a:extLst>
              </p:cNvPr>
              <p:cNvSpPr txBox="1"/>
              <p:nvPr/>
            </p:nvSpPr>
            <p:spPr>
              <a:xfrm>
                <a:off x="894677" y="5709816"/>
                <a:ext cx="1219200" cy="6365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𝑦</m:t>
                          </m:r>
                        </m:sub>
                      </m:sSub>
                      <m:r>
                        <a:rPr lang="en-US" i="1">
                          <a:latin typeface="Cambria Math" panose="02040503050406030204" pitchFamily="18" charset="0"/>
                        </a:rPr>
                        <m:t> </m:t>
                      </m:r>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𝑦</m:t>
                              </m:r>
                            </m:sub>
                          </m:sSub>
                        </m:num>
                        <m:den>
                          <m:r>
                            <a:rPr lang="en-US" b="0" i="1" smtClean="0">
                              <a:latin typeface="Cambria Math" panose="02040503050406030204" pitchFamily="18" charset="0"/>
                            </a:rPr>
                            <m:t>𝑑𝑡</m:t>
                          </m:r>
                        </m:den>
                      </m:f>
                    </m:oMath>
                  </m:oMathPara>
                </a14:m>
                <a:endParaRPr lang="en-US" dirty="0"/>
              </a:p>
            </p:txBody>
          </p:sp>
        </mc:Choice>
        <mc:Fallback xmlns="">
          <p:sp>
            <p:nvSpPr>
              <p:cNvPr id="10" name="TextBox 9">
                <a:extLst>
                  <a:ext uri="{FF2B5EF4-FFF2-40B4-BE49-F238E27FC236}">
                    <a16:creationId xmlns:a16="http://schemas.microsoft.com/office/drawing/2014/main" id="{DE044264-3140-6894-8675-9F8A95129C61}"/>
                  </a:ext>
                </a:extLst>
              </p:cNvPr>
              <p:cNvSpPr txBox="1">
                <a:spLocks noRot="1" noChangeAspect="1" noMove="1" noResize="1" noEditPoints="1" noAdjustHandles="1" noChangeArrowheads="1" noChangeShapeType="1" noTextEdit="1"/>
              </p:cNvSpPr>
              <p:nvPr/>
            </p:nvSpPr>
            <p:spPr>
              <a:xfrm>
                <a:off x="894677" y="5709816"/>
                <a:ext cx="1219200" cy="636585"/>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06280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br>
              <a:rPr lang="en-US" dirty="0"/>
            </a:br>
            <a:r>
              <a:rPr lang="en-US" dirty="0"/>
              <a:t>Projectile Motion through Air</a:t>
            </a:r>
          </a:p>
        </p:txBody>
      </p:sp>
      <p:sp>
        <p:nvSpPr>
          <p:cNvPr id="3" name="TextBox 2">
            <a:extLst>
              <a:ext uri="{FF2B5EF4-FFF2-40B4-BE49-F238E27FC236}">
                <a16:creationId xmlns:a16="http://schemas.microsoft.com/office/drawing/2014/main" id="{F5ABAAB0-CEA4-A3B3-0C0A-B2E20CCEB0FA}"/>
              </a:ext>
            </a:extLst>
          </p:cNvPr>
          <p:cNvSpPr txBox="1"/>
          <p:nvPr/>
        </p:nvSpPr>
        <p:spPr>
          <a:xfrm>
            <a:off x="719863" y="2032846"/>
            <a:ext cx="8101407" cy="646331"/>
          </a:xfrm>
          <a:prstGeom prst="rect">
            <a:avLst/>
          </a:prstGeom>
          <a:noFill/>
        </p:spPr>
        <p:txBody>
          <a:bodyPr wrap="square" rtlCol="0">
            <a:spAutoFit/>
          </a:bodyPr>
          <a:lstStyle/>
          <a:p>
            <a:r>
              <a:rPr lang="en-US" dirty="0"/>
              <a:t>Thus, to solve for the position and velocity of the projectile throughout its trajectory, we must solve the nonlinear system of ordinary differential equations: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74C92A1-53CB-B068-DA82-A5CB839EA7D7}"/>
                  </a:ext>
                </a:extLst>
              </p:cNvPr>
              <p:cNvSpPr txBox="1"/>
              <p:nvPr/>
            </p:nvSpPr>
            <p:spPr>
              <a:xfrm>
                <a:off x="822959" y="3182500"/>
                <a:ext cx="4744124" cy="184576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𝑑</m:t>
                          </m:r>
                        </m:num>
                        <m:den>
                          <m:r>
                            <a:rPr lang="en-US" sz="2400" b="0" i="1" smtClean="0">
                              <a:latin typeface="Cambria Math" panose="02040503050406030204" pitchFamily="18" charset="0"/>
                            </a:rPr>
                            <m:t>𝑑𝑡</m:t>
                          </m:r>
                        </m:den>
                      </m:f>
                      <m:d>
                        <m:dPr>
                          <m:ctrlPr>
                            <a:rPr lang="en-US" sz="2400" b="0" i="1" smtClean="0">
                              <a:latin typeface="Cambria Math" panose="02040503050406030204" pitchFamily="18" charset="0"/>
                            </a:rPr>
                          </m:ctrlPr>
                        </m:dPr>
                        <m:e>
                          <m:f>
                            <m:fPr>
                              <m:type m:val="noBar"/>
                              <m:ctrlPr>
                                <a:rPr lang="en-US" sz="2400" b="0" i="1" smtClean="0">
                                  <a:latin typeface="Cambria Math" panose="02040503050406030204" pitchFamily="18" charset="0"/>
                                </a:rPr>
                              </m:ctrlPr>
                            </m:fPr>
                            <m:num>
                              <m:f>
                                <m:fPr>
                                  <m:type m:val="noBa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𝑥</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𝑦</m:t>
                                      </m:r>
                                    </m:sub>
                                  </m:sSub>
                                </m:den>
                              </m:f>
                            </m:num>
                            <m:den>
                              <m:f>
                                <m:fPr>
                                  <m:type m:val="noBa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𝑥</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𝑦</m:t>
                                      </m:r>
                                    </m:sub>
                                  </m:sSub>
                                </m:den>
                              </m:f>
                            </m:den>
                          </m:f>
                        </m:e>
                      </m:d>
                      <m:r>
                        <a:rPr lang="en-US" sz="2400" b="0" i="1" smtClean="0">
                          <a:latin typeface="Cambria Math" panose="02040503050406030204" pitchFamily="18" charset="0"/>
                        </a:rPr>
                        <m:t>=</m:t>
                      </m:r>
                      <m:d>
                        <m:dPr>
                          <m:ctrlPr>
                            <a:rPr lang="en-US" sz="2400" i="1">
                              <a:latin typeface="Cambria Math" panose="02040503050406030204" pitchFamily="18" charset="0"/>
                            </a:rPr>
                          </m:ctrlPr>
                        </m:dPr>
                        <m:e>
                          <m:f>
                            <m:fPr>
                              <m:type m:val="noBar"/>
                              <m:ctrlPr>
                                <a:rPr lang="en-US" sz="2400" i="1">
                                  <a:latin typeface="Cambria Math" panose="02040503050406030204" pitchFamily="18" charset="0"/>
                                </a:rPr>
                              </m:ctrlPr>
                            </m:fPr>
                            <m:num>
                              <m:f>
                                <m:fPr>
                                  <m:type m:val="noBar"/>
                                  <m:ctrlPr>
                                    <a:rPr lang="en-US" sz="2400" i="1">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𝑥</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𝑦</m:t>
                                      </m:r>
                                    </m:sub>
                                  </m:sSub>
                                </m:den>
                              </m:f>
                            </m:num>
                            <m:den>
                              <m:f>
                                <m:fPr>
                                  <m:type m:val="noBar"/>
                                  <m:ctrlPr>
                                    <a:rPr lang="en-US" sz="2400" i="1">
                                      <a:latin typeface="Cambria Math" panose="02040503050406030204" pitchFamily="18" charset="0"/>
                                    </a:rPr>
                                  </m:ctrlPr>
                                </m:fPr>
                                <m:num>
                                  <m:r>
                                    <a:rPr lang="en-US" sz="2400" i="1">
                                      <a:latin typeface="Cambria Math" panose="02040503050406030204" pitchFamily="18" charset="0"/>
                                    </a:rPr>
                                    <m:t>−</m:t>
                                  </m:r>
                                  <m:r>
                                    <a:rPr lang="en-US" sz="2400" b="0" i="1" smtClean="0">
                                      <a:latin typeface="Cambria Math" panose="02040503050406030204" pitchFamily="18" charset="0"/>
                                    </a:rPr>
                                    <m:t> </m:t>
                                  </m:r>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𝜌</m:t>
                                      </m:r>
                                      <m:r>
                                        <a:rPr lang="en-US" sz="2400" i="1">
                                          <a:latin typeface="Cambria Math" panose="02040503050406030204" pitchFamily="18" charset="0"/>
                                          <a:ea typeface="Cambria Math" panose="02040503050406030204" pitchFamily="18" charset="0"/>
                                        </a:rPr>
                                        <m:t>𝐴</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𝐶</m:t>
                                          </m:r>
                                        </m:e>
                                        <m:sub>
                                          <m:r>
                                            <a:rPr lang="en-US" sz="2400" i="1">
                                              <a:latin typeface="Cambria Math" panose="02040503050406030204" pitchFamily="18" charset="0"/>
                                              <a:ea typeface="Cambria Math" panose="02040503050406030204" pitchFamily="18" charset="0"/>
                                            </a:rPr>
                                            <m:t>𝑑</m:t>
                                          </m:r>
                                        </m:sub>
                                      </m:sSub>
                                    </m:num>
                                    <m:den>
                                      <m:r>
                                        <a:rPr lang="en-US" sz="2400" i="1">
                                          <a:latin typeface="Cambria Math" panose="02040503050406030204" pitchFamily="18" charset="0"/>
                                        </a:rPr>
                                        <m:t>2</m:t>
                                      </m:r>
                                      <m:r>
                                        <a:rPr lang="en-US" sz="2400" i="1">
                                          <a:latin typeface="Cambria Math" panose="02040503050406030204" pitchFamily="18" charset="0"/>
                                        </a:rPr>
                                        <m:t>𝑚</m:t>
                                      </m:r>
                                    </m:den>
                                  </m:f>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𝑣</m:t>
                                          </m:r>
                                        </m:e>
                                        <m:sub>
                                          <m:r>
                                            <a:rPr lang="en-US" sz="2400" i="1">
                                              <a:latin typeface="Cambria Math" panose="02040503050406030204" pitchFamily="18" charset="0"/>
                                            </a:rPr>
                                            <m:t>𝑥</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𝑣</m:t>
                                          </m:r>
                                        </m:e>
                                        <m:sub>
                                          <m:r>
                                            <a:rPr lang="en-US" sz="2400" i="1">
                                              <a:latin typeface="Cambria Math" panose="02040503050406030204" pitchFamily="18" charset="0"/>
                                            </a:rPr>
                                            <m:t>𝑦</m:t>
                                          </m:r>
                                        </m:sub>
                                        <m:sup>
                                          <m:r>
                                            <a:rPr lang="en-US" sz="2400" i="1">
                                              <a:latin typeface="Cambria Math" panose="02040503050406030204" pitchFamily="18" charset="0"/>
                                            </a:rPr>
                                            <m:t>2</m:t>
                                          </m:r>
                                        </m:sup>
                                      </m:sSubSup>
                                    </m:e>
                                  </m:rad>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𝑥</m:t>
                                      </m:r>
                                    </m:sub>
                                  </m:sSub>
                                </m:num>
                                <m:den>
                                  <m:r>
                                    <a:rPr lang="en-US" sz="2400" i="1">
                                      <a:latin typeface="Cambria Math" panose="02040503050406030204" pitchFamily="18" charset="0"/>
                                    </a:rPr>
                                    <m:t>−</m:t>
                                  </m:r>
                                  <m:r>
                                    <a:rPr lang="en-US" sz="2400" b="0" i="1" smtClean="0">
                                      <a:latin typeface="Cambria Math" panose="02040503050406030204" pitchFamily="18" charset="0"/>
                                    </a:rPr>
                                    <m:t> </m:t>
                                  </m:r>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𝜌</m:t>
                                      </m:r>
                                      <m:r>
                                        <a:rPr lang="en-US" sz="2400" i="1">
                                          <a:latin typeface="Cambria Math" panose="02040503050406030204" pitchFamily="18" charset="0"/>
                                          <a:ea typeface="Cambria Math" panose="02040503050406030204" pitchFamily="18" charset="0"/>
                                        </a:rPr>
                                        <m:t>𝐴</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𝐶</m:t>
                                          </m:r>
                                        </m:e>
                                        <m:sub>
                                          <m:r>
                                            <a:rPr lang="en-US" sz="2400" i="1">
                                              <a:latin typeface="Cambria Math" panose="02040503050406030204" pitchFamily="18" charset="0"/>
                                              <a:ea typeface="Cambria Math" panose="02040503050406030204" pitchFamily="18" charset="0"/>
                                            </a:rPr>
                                            <m:t>𝑑</m:t>
                                          </m:r>
                                        </m:sub>
                                      </m:sSub>
                                    </m:num>
                                    <m:den>
                                      <m:r>
                                        <a:rPr lang="en-US" sz="2400" i="1">
                                          <a:latin typeface="Cambria Math" panose="02040503050406030204" pitchFamily="18" charset="0"/>
                                        </a:rPr>
                                        <m:t>2</m:t>
                                      </m:r>
                                      <m:r>
                                        <a:rPr lang="en-US" sz="2400" i="1">
                                          <a:latin typeface="Cambria Math" panose="02040503050406030204" pitchFamily="18" charset="0"/>
                                        </a:rPr>
                                        <m:t>𝑚</m:t>
                                      </m:r>
                                    </m:den>
                                  </m:f>
                                  <m:rad>
                                    <m:radPr>
                                      <m:degHide m:val="on"/>
                                      <m:ctrlPr>
                                        <a:rPr lang="en-US" sz="2400" i="1">
                                          <a:latin typeface="Cambria Math" panose="02040503050406030204" pitchFamily="18" charset="0"/>
                                        </a:rPr>
                                      </m:ctrlPr>
                                    </m:radPr>
                                    <m:deg/>
                                    <m:e>
                                      <m:sSubSup>
                                        <m:sSubSupPr>
                                          <m:ctrlPr>
                                            <a:rPr lang="en-US" sz="2400" i="1">
                                              <a:latin typeface="Cambria Math" panose="02040503050406030204" pitchFamily="18" charset="0"/>
                                            </a:rPr>
                                          </m:ctrlPr>
                                        </m:sSubSupPr>
                                        <m:e>
                                          <m:r>
                                            <a:rPr lang="en-US" sz="2400" i="1">
                                              <a:latin typeface="Cambria Math" panose="02040503050406030204" pitchFamily="18" charset="0"/>
                                            </a:rPr>
                                            <m:t>𝑣</m:t>
                                          </m:r>
                                        </m:e>
                                        <m:sub>
                                          <m:r>
                                            <a:rPr lang="en-US" sz="2400" i="1">
                                              <a:latin typeface="Cambria Math" panose="02040503050406030204" pitchFamily="18" charset="0"/>
                                            </a:rPr>
                                            <m:t>𝑥</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𝑣</m:t>
                                          </m:r>
                                        </m:e>
                                        <m:sub>
                                          <m:r>
                                            <a:rPr lang="en-US" sz="2400" i="1">
                                              <a:latin typeface="Cambria Math" panose="02040503050406030204" pitchFamily="18" charset="0"/>
                                            </a:rPr>
                                            <m:t>𝑦</m:t>
                                          </m:r>
                                        </m:sub>
                                        <m:sup>
                                          <m:r>
                                            <a:rPr lang="en-US" sz="2400" i="1">
                                              <a:latin typeface="Cambria Math" panose="02040503050406030204" pitchFamily="18" charset="0"/>
                                            </a:rPr>
                                            <m:t>2</m:t>
                                          </m:r>
                                        </m:sup>
                                      </m:sSubSup>
                                    </m:e>
                                  </m:rad>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𝑦</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𝑔</m:t>
                                      </m:r>
                                    </m:sub>
                                  </m:sSub>
                                </m:den>
                              </m:f>
                            </m:den>
                          </m:f>
                        </m:e>
                      </m:d>
                    </m:oMath>
                  </m:oMathPara>
                </a14:m>
                <a:endParaRPr lang="en-US" dirty="0"/>
              </a:p>
            </p:txBody>
          </p:sp>
        </mc:Choice>
        <mc:Fallback xmlns="">
          <p:sp>
            <p:nvSpPr>
              <p:cNvPr id="9" name="TextBox 8">
                <a:extLst>
                  <a:ext uri="{FF2B5EF4-FFF2-40B4-BE49-F238E27FC236}">
                    <a16:creationId xmlns:a16="http://schemas.microsoft.com/office/drawing/2014/main" id="{F74C92A1-53CB-B068-DA82-A5CB839EA7D7}"/>
                  </a:ext>
                </a:extLst>
              </p:cNvPr>
              <p:cNvSpPr txBox="1">
                <a:spLocks noRot="1" noChangeAspect="1" noMove="1" noResize="1" noEditPoints="1" noAdjustHandles="1" noChangeArrowheads="1" noChangeShapeType="1" noTextEdit="1"/>
              </p:cNvSpPr>
              <p:nvPr/>
            </p:nvSpPr>
            <p:spPr>
              <a:xfrm>
                <a:off x="822959" y="3182500"/>
                <a:ext cx="4744124" cy="1845762"/>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97766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br>
              <a:rPr lang="en-US" dirty="0"/>
            </a:br>
            <a:r>
              <a:rPr lang="en-US" dirty="0"/>
              <a:t>Projectile Motion through Air</a:t>
            </a:r>
          </a:p>
        </p:txBody>
      </p:sp>
      <p:sp>
        <p:nvSpPr>
          <p:cNvPr id="3" name="TextBox 2">
            <a:extLst>
              <a:ext uri="{FF2B5EF4-FFF2-40B4-BE49-F238E27FC236}">
                <a16:creationId xmlns:a16="http://schemas.microsoft.com/office/drawing/2014/main" id="{4BAF7C34-FFD4-0C4E-EF8C-498CE8A81CE0}"/>
              </a:ext>
            </a:extLst>
          </p:cNvPr>
          <p:cNvSpPr txBox="1"/>
          <p:nvPr/>
        </p:nvSpPr>
        <p:spPr>
          <a:xfrm>
            <a:off x="671531" y="1737361"/>
            <a:ext cx="8222432" cy="769441"/>
          </a:xfrm>
          <a:prstGeom prst="rect">
            <a:avLst/>
          </a:prstGeom>
          <a:noFill/>
        </p:spPr>
        <p:txBody>
          <a:bodyPr wrap="square" rtlCol="0">
            <a:spAutoFit/>
          </a:bodyPr>
          <a:lstStyle/>
          <a:p>
            <a:r>
              <a:rPr lang="en-US" sz="2400" dirty="0"/>
              <a:t>Euler (Tangential) Method for solving ordinary diff. eqns.:</a:t>
            </a:r>
          </a:p>
          <a:p>
            <a:r>
              <a:rPr lang="en-US" sz="2000" dirty="0"/>
              <a:t>Consider the function</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1D8DB99-026F-5838-DAFA-7D51EE7BF04F}"/>
                  </a:ext>
                </a:extLst>
              </p:cNvPr>
              <p:cNvSpPr txBox="1"/>
              <p:nvPr/>
            </p:nvSpPr>
            <p:spPr>
              <a:xfrm>
                <a:off x="779110" y="3534438"/>
                <a:ext cx="2735557" cy="68820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d>
                            <m:dPr>
                              <m:begChr m:val=""/>
                              <m:endChr m:val="|"/>
                              <m:ctrlPr>
                                <a:rPr lang="en-US"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𝑥</m:t>
                                  </m:r>
                                </m:num>
                                <m:den>
                                  <m:r>
                                    <a:rPr lang="en-US" i="1">
                                      <a:latin typeface="Cambria Math" panose="02040503050406030204" pitchFamily="18" charset="0"/>
                                    </a:rPr>
                                    <m:t>𝑑𝑡</m:t>
                                  </m:r>
                                </m:den>
                              </m:f>
                            </m:e>
                          </m:d>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 </m:t>
                          </m:r>
                          <m:r>
                            <m:rPr>
                              <m:sty m:val="p"/>
                            </m:rPr>
                            <a:rPr lang="el-GR" b="0" i="1" smtClean="0">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0</m:t>
                                  </m:r>
                                </m:sub>
                              </m:sSub>
                            </m:e>
                          </m:d>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den>
                      </m:f>
                    </m:oMath>
                  </m:oMathPara>
                </a14:m>
                <a:endParaRPr lang="en-US" dirty="0"/>
              </a:p>
            </p:txBody>
          </p:sp>
        </mc:Choice>
        <mc:Fallback>
          <p:sp>
            <p:nvSpPr>
              <p:cNvPr id="6" name="TextBox 5">
                <a:extLst>
                  <a:ext uri="{FF2B5EF4-FFF2-40B4-BE49-F238E27FC236}">
                    <a16:creationId xmlns:a16="http://schemas.microsoft.com/office/drawing/2014/main" id="{81D8DB99-026F-5838-DAFA-7D51EE7BF04F}"/>
                  </a:ext>
                </a:extLst>
              </p:cNvPr>
              <p:cNvSpPr txBox="1">
                <a:spLocks noRot="1" noChangeAspect="1" noMove="1" noResize="1" noEditPoints="1" noAdjustHandles="1" noChangeArrowheads="1" noChangeShapeType="1" noTextEdit="1"/>
              </p:cNvSpPr>
              <p:nvPr/>
            </p:nvSpPr>
            <p:spPr>
              <a:xfrm>
                <a:off x="779110" y="3534438"/>
                <a:ext cx="2735557" cy="688202"/>
              </a:xfrm>
              <a:prstGeom prst="rect">
                <a:avLst/>
              </a:prstGeom>
              <a:blipFill>
                <a:blip r:embed="rId2"/>
                <a:stretch>
                  <a:fillRect b="-885"/>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CF28CF4E-6012-5FB6-8122-1EF217946AB4}"/>
              </a:ext>
            </a:extLst>
          </p:cNvPr>
          <p:cNvSpPr txBox="1"/>
          <p:nvPr/>
        </p:nvSpPr>
        <p:spPr>
          <a:xfrm>
            <a:off x="671531" y="3134328"/>
            <a:ext cx="7461145" cy="400110"/>
          </a:xfrm>
          <a:prstGeom prst="rect">
            <a:avLst/>
          </a:prstGeom>
          <a:noFill/>
        </p:spPr>
        <p:txBody>
          <a:bodyPr wrap="none" rtlCol="0">
            <a:spAutoFit/>
          </a:bodyPr>
          <a:lstStyle/>
          <a:p>
            <a:r>
              <a:rPr lang="en-US" sz="2000" dirty="0"/>
              <a:t>First, approximate the derivative of x using a forward finite difference</a:t>
            </a:r>
          </a:p>
        </p:txBody>
      </p:sp>
      <p:sp>
        <p:nvSpPr>
          <p:cNvPr id="9" name="TextBox 8">
            <a:extLst>
              <a:ext uri="{FF2B5EF4-FFF2-40B4-BE49-F238E27FC236}">
                <a16:creationId xmlns:a16="http://schemas.microsoft.com/office/drawing/2014/main" id="{B522165A-EB1C-7BB3-993B-A683998966C1}"/>
              </a:ext>
            </a:extLst>
          </p:cNvPr>
          <p:cNvSpPr txBox="1"/>
          <p:nvPr/>
        </p:nvSpPr>
        <p:spPr>
          <a:xfrm>
            <a:off x="671531" y="4131500"/>
            <a:ext cx="5434245" cy="400110"/>
          </a:xfrm>
          <a:prstGeom prst="rect">
            <a:avLst/>
          </a:prstGeom>
          <a:noFill/>
        </p:spPr>
        <p:txBody>
          <a:bodyPr wrap="none" rtlCol="0">
            <a:spAutoFit/>
          </a:bodyPr>
          <a:lstStyle/>
          <a:p>
            <a:r>
              <a:rPr lang="en-US" sz="2000" dirty="0"/>
              <a:t>Then, rearrange to solve for f at the next time step</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9CEDAFB5-864A-8BEA-9F92-161E19B6E7A0}"/>
                  </a:ext>
                </a:extLst>
              </p:cNvPr>
              <p:cNvSpPr txBox="1"/>
              <p:nvPr/>
            </p:nvSpPr>
            <p:spPr>
              <a:xfrm>
                <a:off x="779110" y="4504715"/>
                <a:ext cx="3008901" cy="68820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𝑥</m:t>
                      </m:r>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Δ</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𝑥</m:t>
                                  </m:r>
                                </m:num>
                                <m:den>
                                  <m:r>
                                    <a:rPr lang="en-US" i="1">
                                      <a:latin typeface="Cambria Math" panose="02040503050406030204" pitchFamily="18" charset="0"/>
                                    </a:rPr>
                                    <m:t>𝑑𝑡</m:t>
                                  </m:r>
                                </m:den>
                              </m:f>
                            </m:e>
                          </m:d>
                        </m:e>
                        <m:sub>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m:t>
                              </m:r>
                            </m:sub>
                          </m:sSub>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𝑡</m:t>
                              </m:r>
                            </m:e>
                            <m:sub>
                              <m:r>
                                <a:rPr lang="en-US" i="1">
                                  <a:latin typeface="Cambria Math" panose="02040503050406030204" pitchFamily="18" charset="0"/>
                                  <a:ea typeface="Cambria Math" panose="02040503050406030204" pitchFamily="18" charset="0"/>
                                </a:rPr>
                                <m:t>0</m:t>
                              </m:r>
                            </m:sub>
                          </m:sSub>
                        </m:e>
                      </m:d>
                    </m:oMath>
                  </m:oMathPara>
                </a14:m>
                <a:endParaRPr lang="en-US" dirty="0"/>
              </a:p>
            </p:txBody>
          </p:sp>
        </mc:Choice>
        <mc:Fallback>
          <p:sp>
            <p:nvSpPr>
              <p:cNvPr id="11" name="TextBox 10">
                <a:extLst>
                  <a:ext uri="{FF2B5EF4-FFF2-40B4-BE49-F238E27FC236}">
                    <a16:creationId xmlns:a16="http://schemas.microsoft.com/office/drawing/2014/main" id="{9CEDAFB5-864A-8BEA-9F92-161E19B6E7A0}"/>
                  </a:ext>
                </a:extLst>
              </p:cNvPr>
              <p:cNvSpPr txBox="1">
                <a:spLocks noRot="1" noChangeAspect="1" noMove="1" noResize="1" noEditPoints="1" noAdjustHandles="1" noChangeArrowheads="1" noChangeShapeType="1" noTextEdit="1"/>
              </p:cNvSpPr>
              <p:nvPr/>
            </p:nvSpPr>
            <p:spPr>
              <a:xfrm>
                <a:off x="779110" y="4504715"/>
                <a:ext cx="3008901" cy="688202"/>
              </a:xfrm>
              <a:prstGeom prst="rect">
                <a:avLst/>
              </a:prstGeom>
              <a:blipFill>
                <a:blip r:embed="rId3"/>
                <a:stretch>
                  <a:fillRect b="-8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2C6013D-409D-AD4D-CE08-78F39D1A2449}"/>
                  </a:ext>
                </a:extLst>
              </p:cNvPr>
              <p:cNvSpPr txBox="1"/>
              <p:nvPr/>
            </p:nvSpPr>
            <p:spPr>
              <a:xfrm>
                <a:off x="787099" y="2508805"/>
                <a:ext cx="1257460" cy="52591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𝑑𝑥</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en-US" dirty="0"/>
              </a:p>
            </p:txBody>
          </p:sp>
        </mc:Choice>
        <mc:Fallback>
          <p:sp>
            <p:nvSpPr>
              <p:cNvPr id="12" name="TextBox 11">
                <a:extLst>
                  <a:ext uri="{FF2B5EF4-FFF2-40B4-BE49-F238E27FC236}">
                    <a16:creationId xmlns:a16="http://schemas.microsoft.com/office/drawing/2014/main" id="{02C6013D-409D-AD4D-CE08-78F39D1A2449}"/>
                  </a:ext>
                </a:extLst>
              </p:cNvPr>
              <p:cNvSpPr txBox="1">
                <a:spLocks noRot="1" noChangeAspect="1" noMove="1" noResize="1" noEditPoints="1" noAdjustHandles="1" noChangeArrowheads="1" noChangeShapeType="1" noTextEdit="1"/>
              </p:cNvSpPr>
              <p:nvPr/>
            </p:nvSpPr>
            <p:spPr>
              <a:xfrm>
                <a:off x="787099" y="2508805"/>
                <a:ext cx="1257460" cy="525913"/>
              </a:xfrm>
              <a:prstGeom prst="rect">
                <a:avLst/>
              </a:prstGeom>
              <a:blipFill>
                <a:blip r:embed="rId4"/>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3D540958-27A9-05EF-9691-B08F31EC73D1}"/>
              </a:ext>
            </a:extLst>
          </p:cNvPr>
          <p:cNvSpPr txBox="1"/>
          <p:nvPr/>
        </p:nvSpPr>
        <p:spPr>
          <a:xfrm>
            <a:off x="671531" y="5119707"/>
            <a:ext cx="6507247" cy="1323439"/>
          </a:xfrm>
          <a:prstGeom prst="rect">
            <a:avLst/>
          </a:prstGeom>
          <a:noFill/>
        </p:spPr>
        <p:txBody>
          <a:bodyPr wrap="square" rtlCol="0">
            <a:spAutoFit/>
          </a:bodyPr>
          <a:lstStyle/>
          <a:p>
            <a:r>
              <a:rPr lang="en-US" sz="2000" dirty="0"/>
              <a:t>One can integrate the solution:</a:t>
            </a:r>
          </a:p>
          <a:p>
            <a:pPr marL="342900" indent="-342900">
              <a:buFont typeface="Arial" panose="020B0604020202020204" pitchFamily="34" charset="0"/>
              <a:buChar char="•"/>
            </a:pPr>
            <a:r>
              <a:rPr lang="en-US" sz="2000" dirty="0"/>
              <a:t>Start with an initial value</a:t>
            </a:r>
          </a:p>
          <a:p>
            <a:pPr marL="342900" indent="-342900">
              <a:buFont typeface="Arial" panose="020B0604020202020204" pitchFamily="34" charset="0"/>
              <a:buChar char="•"/>
            </a:pPr>
            <a:r>
              <a:rPr lang="en-US" sz="2000" dirty="0"/>
              <a:t>Compute the derivative</a:t>
            </a:r>
          </a:p>
          <a:p>
            <a:pPr marL="342900" indent="-342900">
              <a:buFont typeface="Arial" panose="020B0604020202020204" pitchFamily="34" charset="0"/>
              <a:buChar char="•"/>
            </a:pPr>
            <a:r>
              <a:rPr lang="en-US" sz="2000" dirty="0"/>
              <a:t>Find the next value</a:t>
            </a:r>
          </a:p>
        </p:txBody>
      </p:sp>
    </p:spTree>
    <p:extLst>
      <p:ext uri="{BB962C8B-B14F-4D97-AF65-F5344CB8AC3E}">
        <p14:creationId xmlns:p14="http://schemas.microsoft.com/office/powerpoint/2010/main" val="1681021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a:xfrm>
            <a:off x="822959" y="286604"/>
            <a:ext cx="7720405" cy="1450757"/>
          </a:xfrm>
        </p:spPr>
        <p:txBody>
          <a:bodyPr/>
          <a:lstStyle/>
          <a:p>
            <a:br>
              <a:rPr lang="en-US" dirty="0"/>
            </a:br>
            <a:r>
              <a:rPr lang="en-US" dirty="0"/>
              <a:t>Projectile Motion through Air</a:t>
            </a:r>
          </a:p>
        </p:txBody>
      </p:sp>
      <p:sp>
        <p:nvSpPr>
          <p:cNvPr id="4" name="TextBox 3">
            <a:extLst>
              <a:ext uri="{FF2B5EF4-FFF2-40B4-BE49-F238E27FC236}">
                <a16:creationId xmlns:a16="http://schemas.microsoft.com/office/drawing/2014/main" id="{CBE06D38-F8BF-0495-DC8F-E3CF8B67C6E3}"/>
              </a:ext>
            </a:extLst>
          </p:cNvPr>
          <p:cNvSpPr txBox="1"/>
          <p:nvPr/>
        </p:nvSpPr>
        <p:spPr>
          <a:xfrm>
            <a:off x="886684" y="5310579"/>
            <a:ext cx="8341835" cy="1077218"/>
          </a:xfrm>
          <a:prstGeom prst="rect">
            <a:avLst/>
          </a:prstGeom>
          <a:noFill/>
        </p:spPr>
        <p:txBody>
          <a:bodyPr wrap="none" rtlCol="0">
            <a:spAutoFit/>
          </a:bodyPr>
          <a:lstStyle/>
          <a:p>
            <a:r>
              <a:rPr lang="en-US" sz="2400" dirty="0"/>
              <a:t>Other numerical integration methods implemented are:</a:t>
            </a:r>
          </a:p>
          <a:p>
            <a:pPr marL="342900" indent="-342900">
              <a:buFont typeface="Arial" panose="020B0604020202020204" pitchFamily="34" charset="0"/>
              <a:buChar char="•"/>
            </a:pPr>
            <a:r>
              <a:rPr lang="en-US" sz="2000" dirty="0"/>
              <a:t>Midpoint method: slope evaluated at two points per time step</a:t>
            </a:r>
          </a:p>
          <a:p>
            <a:pPr marL="342900" indent="-342900">
              <a:buFont typeface="Arial" panose="020B0604020202020204" pitchFamily="34" charset="0"/>
              <a:buChar char="•"/>
            </a:pPr>
            <a:r>
              <a:rPr lang="en-US" sz="2000" dirty="0"/>
              <a:t>4</a:t>
            </a:r>
            <a:r>
              <a:rPr lang="en-US" sz="2000" baseline="30000" dirty="0"/>
              <a:t>th</a:t>
            </a:r>
            <a:r>
              <a:rPr lang="en-US" sz="2000" dirty="0"/>
              <a:t> order Runge-</a:t>
            </a:r>
            <a:r>
              <a:rPr lang="en-US" sz="2000" dirty="0" err="1"/>
              <a:t>Kutta</a:t>
            </a:r>
            <a:r>
              <a:rPr lang="en-US" sz="2000" dirty="0"/>
              <a:t> method: slope evaluated at four points per time step</a:t>
            </a:r>
          </a:p>
        </p:txBody>
      </p:sp>
      <p:sp>
        <p:nvSpPr>
          <p:cNvPr id="8" name="TextBox 7">
            <a:extLst>
              <a:ext uri="{FF2B5EF4-FFF2-40B4-BE49-F238E27FC236}">
                <a16:creationId xmlns:a16="http://schemas.microsoft.com/office/drawing/2014/main" id="{A370A50A-1E0C-D423-8906-902F22408189}"/>
              </a:ext>
            </a:extLst>
          </p:cNvPr>
          <p:cNvSpPr txBox="1"/>
          <p:nvPr/>
        </p:nvSpPr>
        <p:spPr>
          <a:xfrm>
            <a:off x="886684" y="1845699"/>
            <a:ext cx="6507247" cy="400110"/>
          </a:xfrm>
          <a:prstGeom prst="rect">
            <a:avLst/>
          </a:prstGeom>
          <a:noFill/>
        </p:spPr>
        <p:txBody>
          <a:bodyPr wrap="square" rtlCol="0">
            <a:spAutoFit/>
          </a:bodyPr>
          <a:lstStyle/>
          <a:p>
            <a:r>
              <a:rPr lang="en-US" sz="2000" dirty="0"/>
              <a:t>Applying Euler method to our system of equations, we have:</a:t>
            </a:r>
          </a:p>
        </p:txBody>
      </p:sp>
      <p:sp>
        <p:nvSpPr>
          <p:cNvPr id="10" name="TextBox 9">
            <a:extLst>
              <a:ext uri="{FF2B5EF4-FFF2-40B4-BE49-F238E27FC236}">
                <a16:creationId xmlns:a16="http://schemas.microsoft.com/office/drawing/2014/main" id="{5B3912C2-6EFD-3264-86C7-D18DE6EB48A3}"/>
              </a:ext>
            </a:extLst>
          </p:cNvPr>
          <p:cNvSpPr txBox="1"/>
          <p:nvPr/>
        </p:nvSpPr>
        <p:spPr>
          <a:xfrm>
            <a:off x="886684" y="4577113"/>
            <a:ext cx="7880798" cy="707886"/>
          </a:xfrm>
          <a:prstGeom prst="rect">
            <a:avLst/>
          </a:prstGeom>
          <a:noFill/>
        </p:spPr>
        <p:txBody>
          <a:bodyPr wrap="square" rtlCol="0">
            <a:spAutoFit/>
          </a:bodyPr>
          <a:lstStyle/>
          <a:p>
            <a:r>
              <a:rPr lang="en-US" sz="2000" dirty="0"/>
              <a:t>Such that </a:t>
            </a:r>
            <a:r>
              <a:rPr lang="en-US" sz="2000" dirty="0" err="1"/>
              <a:t>i</a:t>
            </a:r>
            <a:r>
              <a:rPr lang="en-US" sz="2000" dirty="0"/>
              <a:t> = 0 corresponds to the initial state. In this way we can solve for all positions and velocities in the trajectory.</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804EA0FA-3DCA-FD76-DA94-A01157F230E0}"/>
                  </a:ext>
                </a:extLst>
              </p:cNvPr>
              <p:cNvSpPr txBox="1"/>
              <p:nvPr/>
            </p:nvSpPr>
            <p:spPr>
              <a:xfrm>
                <a:off x="968189" y="2314172"/>
                <a:ext cx="2012602" cy="28918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𝑥</m:t>
                          </m:r>
                          <m:r>
                            <a:rPr lang="en-US" b="0" i="1" smtClean="0">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sub>
                      </m:sSub>
                    </m:oMath>
                  </m:oMathPara>
                </a14:m>
                <a:endParaRPr lang="en-US" dirty="0"/>
              </a:p>
            </p:txBody>
          </p:sp>
        </mc:Choice>
        <mc:Fallback>
          <p:sp>
            <p:nvSpPr>
              <p:cNvPr id="12" name="TextBox 11">
                <a:extLst>
                  <a:ext uri="{FF2B5EF4-FFF2-40B4-BE49-F238E27FC236}">
                    <a16:creationId xmlns:a16="http://schemas.microsoft.com/office/drawing/2014/main" id="{804EA0FA-3DCA-FD76-DA94-A01157F230E0}"/>
                  </a:ext>
                </a:extLst>
              </p:cNvPr>
              <p:cNvSpPr txBox="1">
                <a:spLocks noRot="1" noChangeAspect="1" noMove="1" noResize="1" noEditPoints="1" noAdjustHandles="1" noChangeArrowheads="1" noChangeShapeType="1" noTextEdit="1"/>
              </p:cNvSpPr>
              <p:nvPr/>
            </p:nvSpPr>
            <p:spPr>
              <a:xfrm>
                <a:off x="968189" y="2314172"/>
                <a:ext cx="2012602" cy="289182"/>
              </a:xfrm>
              <a:prstGeom prst="rect">
                <a:avLst/>
              </a:prstGeom>
              <a:blipFill>
                <a:blip r:embed="rId2"/>
                <a:stretch>
                  <a:fillRect l="-1212" r="-909" b="-1489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581108DB-A698-079F-C376-BAFB85B622E5}"/>
                  </a:ext>
                </a:extLst>
              </p:cNvPr>
              <p:cNvSpPr txBox="1"/>
              <p:nvPr/>
            </p:nvSpPr>
            <p:spPr>
              <a:xfrm>
                <a:off x="968189" y="2726995"/>
                <a:ext cx="2035494" cy="29892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𝑦</m:t>
                          </m:r>
                          <m:r>
                            <a:rPr lang="en-US" b="0" i="1" smtClean="0">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sub>
                      </m:sSub>
                    </m:oMath>
                  </m:oMathPara>
                </a14:m>
                <a:endParaRPr lang="en-US" dirty="0"/>
              </a:p>
            </p:txBody>
          </p:sp>
        </mc:Choice>
        <mc:Fallback>
          <p:sp>
            <p:nvSpPr>
              <p:cNvPr id="13" name="TextBox 12">
                <a:extLst>
                  <a:ext uri="{FF2B5EF4-FFF2-40B4-BE49-F238E27FC236}">
                    <a16:creationId xmlns:a16="http://schemas.microsoft.com/office/drawing/2014/main" id="{581108DB-A698-079F-C376-BAFB85B622E5}"/>
                  </a:ext>
                </a:extLst>
              </p:cNvPr>
              <p:cNvSpPr txBox="1">
                <a:spLocks noRot="1" noChangeAspect="1" noMove="1" noResize="1" noEditPoints="1" noAdjustHandles="1" noChangeArrowheads="1" noChangeShapeType="1" noTextEdit="1"/>
              </p:cNvSpPr>
              <p:nvPr/>
            </p:nvSpPr>
            <p:spPr>
              <a:xfrm>
                <a:off x="968189" y="2726995"/>
                <a:ext cx="2035494" cy="298928"/>
              </a:xfrm>
              <a:prstGeom prst="rect">
                <a:avLst/>
              </a:prstGeom>
              <a:blipFill>
                <a:blip r:embed="rId3"/>
                <a:stretch>
                  <a:fillRect l="-1198" r="-599" b="-2040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DF832C57-3A3E-0CF3-FE56-E72924D02846}"/>
                  </a:ext>
                </a:extLst>
              </p:cNvPr>
              <p:cNvSpPr txBox="1"/>
              <p:nvPr/>
            </p:nvSpPr>
            <p:spPr>
              <a:xfrm>
                <a:off x="945297" y="3137039"/>
                <a:ext cx="4349909" cy="62235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r>
                            <a:rPr lang="en-US" b="0" i="1" smtClean="0">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num>
                            <m:den>
                              <m:r>
                                <a:rPr lang="en-US" i="1">
                                  <a:latin typeface="Cambria Math" panose="02040503050406030204" pitchFamily="18" charset="0"/>
                                </a:rPr>
                                <m:t>2</m:t>
                              </m:r>
                              <m:r>
                                <a:rPr lang="en-US" i="1">
                                  <a:latin typeface="Cambria Math" panose="02040503050406030204" pitchFamily="18" charset="0"/>
                                </a:rPr>
                                <m:t>𝑚</m:t>
                              </m:r>
                            </m:den>
                          </m:f>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𝑖</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𝑖</m:t>
                                  </m:r>
                                </m:sub>
                                <m:sup>
                                  <m:r>
                                    <a:rPr lang="en-US" i="1">
                                      <a:latin typeface="Cambria Math" panose="02040503050406030204" pitchFamily="18" charset="0"/>
                                    </a:rPr>
                                    <m:t>2</m:t>
                                  </m:r>
                                </m:sup>
                              </m:sSubSup>
                            </m:e>
                          </m:rad>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𝑖</m:t>
                              </m:r>
                            </m:sub>
                          </m:sSub>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sub>
                      </m:sSub>
                    </m:oMath>
                  </m:oMathPara>
                </a14:m>
                <a:endParaRPr lang="en-US" dirty="0"/>
              </a:p>
            </p:txBody>
          </p:sp>
        </mc:Choice>
        <mc:Fallback>
          <p:sp>
            <p:nvSpPr>
              <p:cNvPr id="14" name="TextBox 13">
                <a:extLst>
                  <a:ext uri="{FF2B5EF4-FFF2-40B4-BE49-F238E27FC236}">
                    <a16:creationId xmlns:a16="http://schemas.microsoft.com/office/drawing/2014/main" id="{DF832C57-3A3E-0CF3-FE56-E72924D02846}"/>
                  </a:ext>
                </a:extLst>
              </p:cNvPr>
              <p:cNvSpPr txBox="1">
                <a:spLocks noRot="1" noChangeAspect="1" noMove="1" noResize="1" noEditPoints="1" noAdjustHandles="1" noChangeArrowheads="1" noChangeShapeType="1" noTextEdit="1"/>
              </p:cNvSpPr>
              <p:nvPr/>
            </p:nvSpPr>
            <p:spPr>
              <a:xfrm>
                <a:off x="945297" y="3137039"/>
                <a:ext cx="4349909" cy="62235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B8633CD8-D661-BC26-4FE1-21BEFDDAAB04}"/>
                  </a:ext>
                </a:extLst>
              </p:cNvPr>
              <p:cNvSpPr txBox="1"/>
              <p:nvPr/>
            </p:nvSpPr>
            <p:spPr>
              <a:xfrm>
                <a:off x="945297" y="3912523"/>
                <a:ext cx="4889928" cy="62235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𝑦</m:t>
                          </m:r>
                          <m:r>
                            <a:rPr lang="en-US" b="0" i="1" smtClean="0">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𝑑</m:t>
                                  </m:r>
                                </m:sub>
                              </m:sSub>
                            </m:num>
                            <m:den>
                              <m:r>
                                <a:rPr lang="en-US" i="1">
                                  <a:latin typeface="Cambria Math" panose="02040503050406030204" pitchFamily="18" charset="0"/>
                                </a:rPr>
                                <m:t>2</m:t>
                              </m:r>
                              <m:r>
                                <a:rPr lang="en-US" i="1">
                                  <a:latin typeface="Cambria Math" panose="02040503050406030204" pitchFamily="18" charset="0"/>
                                </a:rPr>
                                <m:t>𝑚</m:t>
                              </m:r>
                            </m:den>
                          </m:f>
                          <m:rad>
                            <m:radPr>
                              <m:degHide m:val="on"/>
                              <m:ctrlPr>
                                <a:rPr lang="en-US" i="1">
                                  <a:latin typeface="Cambria Math" panose="02040503050406030204" pitchFamily="18" charset="0"/>
                                </a:rPr>
                              </m:ctrlPr>
                            </m:radPr>
                            <m:deg/>
                            <m:e>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𝑖</m:t>
                                  </m:r>
                                </m:sub>
                                <m:sup>
                                  <m:r>
                                    <a:rPr lang="en-US" i="1">
                                      <a:latin typeface="Cambria Math" panose="02040503050406030204" pitchFamily="18" charset="0"/>
                                    </a:rPr>
                                    <m:t>2</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𝑣</m:t>
                                  </m:r>
                                </m:e>
                                <m:sub>
                                  <m:r>
                                    <a:rPr lang="en-US" i="1">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𝑖</m:t>
                                  </m:r>
                                </m:sub>
                                <m:sup>
                                  <m:r>
                                    <a:rPr lang="en-US" i="1">
                                      <a:latin typeface="Cambria Math" panose="02040503050406030204" pitchFamily="18" charset="0"/>
                                    </a:rPr>
                                    <m:t>2</m:t>
                                  </m:r>
                                </m:sup>
                              </m:sSubSup>
                            </m:e>
                          </m:rad>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𝑔</m:t>
                              </m:r>
                            </m:sub>
                          </m:sSub>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sub>
                      </m:sSub>
                    </m:oMath>
                  </m:oMathPara>
                </a14:m>
                <a:endParaRPr lang="en-US" dirty="0"/>
              </a:p>
            </p:txBody>
          </p:sp>
        </mc:Choice>
        <mc:Fallback>
          <p:sp>
            <p:nvSpPr>
              <p:cNvPr id="15" name="TextBox 14">
                <a:extLst>
                  <a:ext uri="{FF2B5EF4-FFF2-40B4-BE49-F238E27FC236}">
                    <a16:creationId xmlns:a16="http://schemas.microsoft.com/office/drawing/2014/main" id="{B8633CD8-D661-BC26-4FE1-21BEFDDAAB04}"/>
                  </a:ext>
                </a:extLst>
              </p:cNvPr>
              <p:cNvSpPr txBox="1">
                <a:spLocks noRot="1" noChangeAspect="1" noMove="1" noResize="1" noEditPoints="1" noAdjustHandles="1" noChangeArrowheads="1" noChangeShapeType="1" noTextEdit="1"/>
              </p:cNvSpPr>
              <p:nvPr/>
            </p:nvSpPr>
            <p:spPr>
              <a:xfrm>
                <a:off x="945297" y="3912523"/>
                <a:ext cx="4889928" cy="62235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2634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lowchart: Process 28">
            <a:extLst>
              <a:ext uri="{FF2B5EF4-FFF2-40B4-BE49-F238E27FC236}">
                <a16:creationId xmlns:a16="http://schemas.microsoft.com/office/drawing/2014/main" id="{47363DA6-4D36-86AE-1509-966E75C86A28}"/>
              </a:ext>
            </a:extLst>
          </p:cNvPr>
          <p:cNvSpPr/>
          <p:nvPr/>
        </p:nvSpPr>
        <p:spPr>
          <a:xfrm>
            <a:off x="717176" y="1568824"/>
            <a:ext cx="7835153" cy="223220"/>
          </a:xfrm>
          <a:prstGeom prst="flowChart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D82B52-F813-D3EC-D616-84B0E2DFF959}"/>
              </a:ext>
            </a:extLst>
          </p:cNvPr>
          <p:cNvSpPr>
            <a:spLocks noGrp="1"/>
          </p:cNvSpPr>
          <p:nvPr>
            <p:ph type="title"/>
          </p:nvPr>
        </p:nvSpPr>
        <p:spPr>
          <a:xfrm>
            <a:off x="800097" y="50833"/>
            <a:ext cx="7543800" cy="747030"/>
          </a:xfrm>
        </p:spPr>
        <p:txBody>
          <a:bodyPr/>
          <a:lstStyle/>
          <a:p>
            <a:r>
              <a:rPr lang="en-US" dirty="0"/>
              <a:t>Program Flow Diagram</a:t>
            </a:r>
          </a:p>
        </p:txBody>
      </p:sp>
      <p:sp>
        <p:nvSpPr>
          <p:cNvPr id="4" name="Flowchart: Alternate Process 3">
            <a:extLst>
              <a:ext uri="{FF2B5EF4-FFF2-40B4-BE49-F238E27FC236}">
                <a16:creationId xmlns:a16="http://schemas.microsoft.com/office/drawing/2014/main" id="{FF9514AE-5324-B7E0-ACC7-E4841DC3B083}"/>
              </a:ext>
            </a:extLst>
          </p:cNvPr>
          <p:cNvSpPr/>
          <p:nvPr/>
        </p:nvSpPr>
        <p:spPr>
          <a:xfrm>
            <a:off x="1578012" y="1175012"/>
            <a:ext cx="5987976" cy="403412"/>
          </a:xfrm>
          <a:prstGeom prst="flowChartAlternate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Take batted ball speed, launch angle, and time step as input</a:t>
            </a:r>
          </a:p>
        </p:txBody>
      </p:sp>
      <p:sp>
        <p:nvSpPr>
          <p:cNvPr id="5" name="Flowchart: Process 4">
            <a:extLst>
              <a:ext uri="{FF2B5EF4-FFF2-40B4-BE49-F238E27FC236}">
                <a16:creationId xmlns:a16="http://schemas.microsoft.com/office/drawing/2014/main" id="{13BE7CBE-7DD1-3EFE-3770-6098FA40B16A}"/>
              </a:ext>
            </a:extLst>
          </p:cNvPr>
          <p:cNvSpPr/>
          <p:nvPr/>
        </p:nvSpPr>
        <p:spPr>
          <a:xfrm>
            <a:off x="1578012" y="1841089"/>
            <a:ext cx="5987976" cy="403413"/>
          </a:xfrm>
          <a:prstGeom prst="flowChart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Compute vacuum trajectory using analytical solution</a:t>
            </a:r>
          </a:p>
        </p:txBody>
      </p:sp>
      <p:sp>
        <p:nvSpPr>
          <p:cNvPr id="6" name="Flowchart: Process 5">
            <a:extLst>
              <a:ext uri="{FF2B5EF4-FFF2-40B4-BE49-F238E27FC236}">
                <a16:creationId xmlns:a16="http://schemas.microsoft.com/office/drawing/2014/main" id="{29A6EBD4-3231-82F0-347B-B913B0829998}"/>
              </a:ext>
            </a:extLst>
          </p:cNvPr>
          <p:cNvSpPr/>
          <p:nvPr/>
        </p:nvSpPr>
        <p:spPr>
          <a:xfrm>
            <a:off x="62750" y="2507167"/>
            <a:ext cx="9018496" cy="765586"/>
          </a:xfrm>
          <a:prstGeom prst="flowChart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Compute </a:t>
            </a:r>
            <a:r>
              <a:rPr lang="en-US" dirty="0" err="1">
                <a:solidFill>
                  <a:schemeClr val="tx1"/>
                </a:solidFill>
              </a:rPr>
              <a:t>t</a:t>
            </a:r>
            <a:r>
              <a:rPr lang="en-US" baseline="-25000" dirty="0" err="1">
                <a:solidFill>
                  <a:schemeClr val="tx1"/>
                </a:solidFill>
              </a:rPr>
              <a:t>peak</a:t>
            </a:r>
            <a:r>
              <a:rPr lang="en-US" dirty="0">
                <a:solidFill>
                  <a:schemeClr val="tx1"/>
                </a:solidFill>
              </a:rPr>
              <a:t> of Newton drag trajectory using secant method to find when </a:t>
            </a:r>
            <a:r>
              <a:rPr lang="en-US" dirty="0" err="1">
                <a:solidFill>
                  <a:schemeClr val="tx1"/>
                </a:solidFill>
              </a:rPr>
              <a:t>v</a:t>
            </a:r>
            <a:r>
              <a:rPr lang="en-US" baseline="-25000" dirty="0" err="1">
                <a:solidFill>
                  <a:schemeClr val="tx1"/>
                </a:solidFill>
              </a:rPr>
              <a:t>y</a:t>
            </a:r>
            <a:r>
              <a:rPr lang="en-US" baseline="30000" dirty="0">
                <a:solidFill>
                  <a:schemeClr val="tx1"/>
                </a:solidFill>
              </a:rPr>
              <a:t> </a:t>
            </a:r>
            <a:r>
              <a:rPr lang="en-US" dirty="0">
                <a:solidFill>
                  <a:schemeClr val="tx1"/>
                </a:solidFill>
              </a:rPr>
              <a:t>= 0, which itself uses a numerical integration method and </a:t>
            </a:r>
            <a:r>
              <a:rPr lang="en-US" dirty="0" err="1">
                <a:solidFill>
                  <a:schemeClr val="tx1"/>
                </a:solidFill>
              </a:rPr>
              <a:t>t</a:t>
            </a:r>
            <a:r>
              <a:rPr lang="en-US" baseline="-25000" dirty="0" err="1">
                <a:solidFill>
                  <a:schemeClr val="tx1"/>
                </a:solidFill>
              </a:rPr>
              <a:t>peak</a:t>
            </a:r>
            <a:r>
              <a:rPr lang="en-US" dirty="0">
                <a:solidFill>
                  <a:schemeClr val="tx1"/>
                </a:solidFill>
              </a:rPr>
              <a:t> guesses of 0 and 1 seconds</a:t>
            </a:r>
          </a:p>
        </p:txBody>
      </p:sp>
      <p:sp>
        <p:nvSpPr>
          <p:cNvPr id="7" name="Flowchart: Process 6">
            <a:extLst>
              <a:ext uri="{FF2B5EF4-FFF2-40B4-BE49-F238E27FC236}">
                <a16:creationId xmlns:a16="http://schemas.microsoft.com/office/drawing/2014/main" id="{393845F4-F8CC-5063-9BD3-860B7EC2331E}"/>
              </a:ext>
            </a:extLst>
          </p:cNvPr>
          <p:cNvSpPr/>
          <p:nvPr/>
        </p:nvSpPr>
        <p:spPr>
          <a:xfrm>
            <a:off x="62750" y="3535418"/>
            <a:ext cx="9018496" cy="857919"/>
          </a:xfrm>
          <a:prstGeom prst="flowChart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Compute </a:t>
            </a:r>
            <a:r>
              <a:rPr lang="en-US" dirty="0" err="1">
                <a:solidFill>
                  <a:schemeClr val="tx1"/>
                </a:solidFill>
              </a:rPr>
              <a:t>t</a:t>
            </a:r>
            <a:r>
              <a:rPr lang="en-US" baseline="-25000" dirty="0" err="1">
                <a:solidFill>
                  <a:schemeClr val="tx1"/>
                </a:solidFill>
              </a:rPr>
              <a:t>impact</a:t>
            </a:r>
            <a:r>
              <a:rPr lang="en-US" dirty="0">
                <a:solidFill>
                  <a:schemeClr val="tx1"/>
                </a:solidFill>
              </a:rPr>
              <a:t> of Newton drag trajectory using secant method to find when y</a:t>
            </a:r>
            <a:r>
              <a:rPr lang="en-US" baseline="30000" dirty="0">
                <a:solidFill>
                  <a:schemeClr val="tx1"/>
                </a:solidFill>
              </a:rPr>
              <a:t> </a:t>
            </a:r>
            <a:r>
              <a:rPr lang="en-US" dirty="0">
                <a:solidFill>
                  <a:schemeClr val="tx1"/>
                </a:solidFill>
              </a:rPr>
              <a:t>= 0, which itself uses a numerical integration method and </a:t>
            </a:r>
            <a:r>
              <a:rPr lang="en-US" dirty="0" err="1">
                <a:solidFill>
                  <a:schemeClr val="tx1"/>
                </a:solidFill>
              </a:rPr>
              <a:t>t</a:t>
            </a:r>
            <a:r>
              <a:rPr lang="en-US" baseline="-25000" dirty="0" err="1">
                <a:solidFill>
                  <a:schemeClr val="tx1"/>
                </a:solidFill>
              </a:rPr>
              <a:t>impact</a:t>
            </a:r>
            <a:r>
              <a:rPr lang="en-US" dirty="0">
                <a:solidFill>
                  <a:schemeClr val="tx1"/>
                </a:solidFill>
              </a:rPr>
              <a:t> guesses of 2* </a:t>
            </a:r>
            <a:r>
              <a:rPr lang="en-US" dirty="0" err="1">
                <a:solidFill>
                  <a:schemeClr val="tx1"/>
                </a:solidFill>
              </a:rPr>
              <a:t>t</a:t>
            </a:r>
            <a:r>
              <a:rPr lang="en-US" baseline="-25000" dirty="0" err="1">
                <a:solidFill>
                  <a:schemeClr val="tx1"/>
                </a:solidFill>
              </a:rPr>
              <a:t>peak</a:t>
            </a:r>
            <a:r>
              <a:rPr lang="en-US" dirty="0">
                <a:solidFill>
                  <a:schemeClr val="tx1"/>
                </a:solidFill>
              </a:rPr>
              <a:t> and 2* </a:t>
            </a:r>
            <a:r>
              <a:rPr lang="en-US" dirty="0" err="1">
                <a:solidFill>
                  <a:schemeClr val="tx1"/>
                </a:solidFill>
              </a:rPr>
              <a:t>t</a:t>
            </a:r>
            <a:r>
              <a:rPr lang="en-US" baseline="-25000" dirty="0" err="1">
                <a:solidFill>
                  <a:schemeClr val="tx1"/>
                </a:solidFill>
              </a:rPr>
              <a:t>peak</a:t>
            </a:r>
            <a:r>
              <a:rPr lang="en-US" dirty="0">
                <a:solidFill>
                  <a:schemeClr val="tx1"/>
                </a:solidFill>
              </a:rPr>
              <a:t> +1 seconds</a:t>
            </a:r>
          </a:p>
        </p:txBody>
      </p:sp>
      <p:sp>
        <p:nvSpPr>
          <p:cNvPr id="8" name="Flowchart: Process 7">
            <a:extLst>
              <a:ext uri="{FF2B5EF4-FFF2-40B4-BE49-F238E27FC236}">
                <a16:creationId xmlns:a16="http://schemas.microsoft.com/office/drawing/2014/main" id="{2A298018-B042-24B9-DF2F-3D58443AEE14}"/>
              </a:ext>
            </a:extLst>
          </p:cNvPr>
          <p:cNvSpPr/>
          <p:nvPr/>
        </p:nvSpPr>
        <p:spPr>
          <a:xfrm>
            <a:off x="1578012" y="4656002"/>
            <a:ext cx="5987976" cy="687594"/>
          </a:xfrm>
          <a:prstGeom prst="flowChart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Compute Newton drag trajectory using a numerical integration method and time span of 0 to </a:t>
            </a:r>
            <a:r>
              <a:rPr lang="en-US" dirty="0" err="1">
                <a:solidFill>
                  <a:schemeClr val="tx1"/>
                </a:solidFill>
              </a:rPr>
              <a:t>t</a:t>
            </a:r>
            <a:r>
              <a:rPr lang="en-US" baseline="-25000" dirty="0" err="1">
                <a:solidFill>
                  <a:schemeClr val="tx1"/>
                </a:solidFill>
              </a:rPr>
              <a:t>impact</a:t>
            </a:r>
            <a:r>
              <a:rPr lang="en-US" dirty="0">
                <a:solidFill>
                  <a:schemeClr val="tx1"/>
                </a:solidFill>
              </a:rPr>
              <a:t> </a:t>
            </a:r>
          </a:p>
        </p:txBody>
      </p:sp>
      <p:sp>
        <p:nvSpPr>
          <p:cNvPr id="9" name="Flowchart: Alternate Process 8">
            <a:extLst>
              <a:ext uri="{FF2B5EF4-FFF2-40B4-BE49-F238E27FC236}">
                <a16:creationId xmlns:a16="http://schemas.microsoft.com/office/drawing/2014/main" id="{CF9D2048-4434-BB96-DE34-FD115D722BCC}"/>
              </a:ext>
            </a:extLst>
          </p:cNvPr>
          <p:cNvSpPr/>
          <p:nvPr/>
        </p:nvSpPr>
        <p:spPr>
          <a:xfrm>
            <a:off x="2432009" y="5582317"/>
            <a:ext cx="4279975" cy="403412"/>
          </a:xfrm>
          <a:prstGeom prst="flowChartAlternate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Generate plots and output text to console</a:t>
            </a:r>
          </a:p>
        </p:txBody>
      </p:sp>
      <p:cxnSp>
        <p:nvCxnSpPr>
          <p:cNvPr id="11" name="Straight Arrow Connector 10">
            <a:extLst>
              <a:ext uri="{FF2B5EF4-FFF2-40B4-BE49-F238E27FC236}">
                <a16:creationId xmlns:a16="http://schemas.microsoft.com/office/drawing/2014/main" id="{A7B414B8-E503-A7AD-8AB9-605A19F87C86}"/>
              </a:ext>
            </a:extLst>
          </p:cNvPr>
          <p:cNvCxnSpPr>
            <a:cxnSpLocks/>
            <a:stCxn id="4" idx="2"/>
            <a:endCxn id="5" idx="0"/>
          </p:cNvCxnSpPr>
          <p:nvPr/>
        </p:nvCxnSpPr>
        <p:spPr>
          <a:xfrm>
            <a:off x="4572000" y="1578424"/>
            <a:ext cx="0" cy="262665"/>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A61608D-EB81-EAA0-A5AE-E9BE71063ECE}"/>
              </a:ext>
            </a:extLst>
          </p:cNvPr>
          <p:cNvCxnSpPr>
            <a:cxnSpLocks/>
            <a:stCxn id="5" idx="2"/>
            <a:endCxn id="6" idx="0"/>
          </p:cNvCxnSpPr>
          <p:nvPr/>
        </p:nvCxnSpPr>
        <p:spPr>
          <a:xfrm flipH="1">
            <a:off x="4571998" y="2244502"/>
            <a:ext cx="2" cy="262665"/>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9108E1D-28B5-60AE-9E2D-2EEE58F5207A}"/>
              </a:ext>
            </a:extLst>
          </p:cNvPr>
          <p:cNvCxnSpPr>
            <a:cxnSpLocks/>
            <a:stCxn id="6" idx="2"/>
            <a:endCxn id="7" idx="0"/>
          </p:cNvCxnSpPr>
          <p:nvPr/>
        </p:nvCxnSpPr>
        <p:spPr>
          <a:xfrm>
            <a:off x="4571998" y="3272753"/>
            <a:ext cx="0" cy="262665"/>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A41C2E5-7C14-B61D-BC21-8FE97298487B}"/>
              </a:ext>
            </a:extLst>
          </p:cNvPr>
          <p:cNvCxnSpPr>
            <a:cxnSpLocks/>
            <a:stCxn id="7" idx="2"/>
            <a:endCxn id="8" idx="0"/>
          </p:cNvCxnSpPr>
          <p:nvPr/>
        </p:nvCxnSpPr>
        <p:spPr>
          <a:xfrm>
            <a:off x="4571998" y="4393337"/>
            <a:ext cx="2" cy="262665"/>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CE315D0-586E-ABF1-6485-A60F83B95777}"/>
              </a:ext>
            </a:extLst>
          </p:cNvPr>
          <p:cNvCxnSpPr>
            <a:cxnSpLocks/>
            <a:stCxn id="8" idx="2"/>
            <a:endCxn id="9" idx="0"/>
          </p:cNvCxnSpPr>
          <p:nvPr/>
        </p:nvCxnSpPr>
        <p:spPr>
          <a:xfrm flipH="1">
            <a:off x="4571997" y="5343596"/>
            <a:ext cx="3" cy="238721"/>
          </a:xfrm>
          <a:prstGeom prst="straightConnector1">
            <a:avLst/>
          </a:prstGeom>
          <a:ln>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BD0B20D-BA30-231A-0D9A-DBAD97D595BB}"/>
              </a:ext>
            </a:extLst>
          </p:cNvPr>
          <p:cNvCxnSpPr/>
          <p:nvPr/>
        </p:nvCxnSpPr>
        <p:spPr>
          <a:xfrm>
            <a:off x="905435" y="672353"/>
            <a:ext cx="7342094"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9174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2AC42AF-0A24-7AC2-BA78-9A99922D5A91}"/>
              </a:ext>
            </a:extLst>
          </p:cNvPr>
          <p:cNvPicPr>
            <a:picLocks noChangeAspect="1"/>
          </p:cNvPicPr>
          <p:nvPr/>
        </p:nvPicPr>
        <p:blipFill>
          <a:blip r:embed="rId2"/>
          <a:stretch>
            <a:fillRect/>
          </a:stretch>
        </p:blipFill>
        <p:spPr>
          <a:xfrm>
            <a:off x="822960" y="2644912"/>
            <a:ext cx="7623619" cy="1128908"/>
          </a:xfrm>
          <a:prstGeom prst="rect">
            <a:avLst/>
          </a:prstGeom>
        </p:spPr>
      </p:pic>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p:txBody>
          <a:bodyPr/>
          <a:lstStyle/>
          <a:p>
            <a:r>
              <a:rPr lang="en-US" dirty="0"/>
              <a:t>Program Inputs to Console</a:t>
            </a:r>
          </a:p>
        </p:txBody>
      </p:sp>
      <p:sp>
        <p:nvSpPr>
          <p:cNvPr id="6" name="Rectangle 5">
            <a:extLst>
              <a:ext uri="{FF2B5EF4-FFF2-40B4-BE49-F238E27FC236}">
                <a16:creationId xmlns:a16="http://schemas.microsoft.com/office/drawing/2014/main" id="{5F0320A2-B000-8322-BD24-EF150B9CAB3B}"/>
              </a:ext>
            </a:extLst>
          </p:cNvPr>
          <p:cNvSpPr/>
          <p:nvPr/>
        </p:nvSpPr>
        <p:spPr>
          <a:xfrm>
            <a:off x="5459505" y="2918012"/>
            <a:ext cx="475130" cy="2510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5274ED1-E525-75B7-930A-B381F02096DB}"/>
              </a:ext>
            </a:extLst>
          </p:cNvPr>
          <p:cNvSpPr/>
          <p:nvPr/>
        </p:nvSpPr>
        <p:spPr>
          <a:xfrm>
            <a:off x="4320988" y="3177989"/>
            <a:ext cx="394447" cy="2779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43899EB-3FCA-4068-4B7C-423A050412AA}"/>
              </a:ext>
            </a:extLst>
          </p:cNvPr>
          <p:cNvSpPr/>
          <p:nvPr/>
        </p:nvSpPr>
        <p:spPr>
          <a:xfrm>
            <a:off x="7962485" y="3446929"/>
            <a:ext cx="466164" cy="2779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1624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409A-C833-03AA-02B4-0E81CAC8657B}"/>
              </a:ext>
            </a:extLst>
          </p:cNvPr>
          <p:cNvSpPr>
            <a:spLocks noGrp="1"/>
          </p:cNvSpPr>
          <p:nvPr>
            <p:ph type="title"/>
          </p:nvPr>
        </p:nvSpPr>
        <p:spPr/>
        <p:txBody>
          <a:bodyPr/>
          <a:lstStyle/>
          <a:p>
            <a:r>
              <a:rPr lang="en-US" dirty="0"/>
              <a:t>Program Outputs to Console</a:t>
            </a:r>
          </a:p>
        </p:txBody>
      </p:sp>
      <p:pic>
        <p:nvPicPr>
          <p:cNvPr id="8" name="Picture 7">
            <a:extLst>
              <a:ext uri="{FF2B5EF4-FFF2-40B4-BE49-F238E27FC236}">
                <a16:creationId xmlns:a16="http://schemas.microsoft.com/office/drawing/2014/main" id="{C23679CF-EA0F-1037-CB3A-ECE4D011CAD1}"/>
              </a:ext>
            </a:extLst>
          </p:cNvPr>
          <p:cNvPicPr>
            <a:picLocks noChangeAspect="1"/>
          </p:cNvPicPr>
          <p:nvPr/>
        </p:nvPicPr>
        <p:blipFill>
          <a:blip r:embed="rId2"/>
          <a:stretch>
            <a:fillRect/>
          </a:stretch>
        </p:blipFill>
        <p:spPr>
          <a:xfrm>
            <a:off x="878030" y="2124065"/>
            <a:ext cx="7387939" cy="3595725"/>
          </a:xfrm>
          <a:prstGeom prst="rect">
            <a:avLst/>
          </a:prstGeom>
        </p:spPr>
      </p:pic>
    </p:spTree>
    <p:extLst>
      <p:ext uri="{BB962C8B-B14F-4D97-AF65-F5344CB8AC3E}">
        <p14:creationId xmlns:p14="http://schemas.microsoft.com/office/powerpoint/2010/main" val="3051593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CE09-172E-D16C-4429-B3747E9453C2}"/>
              </a:ext>
            </a:extLst>
          </p:cNvPr>
          <p:cNvSpPr>
            <a:spLocks noGrp="1"/>
          </p:cNvSpPr>
          <p:nvPr>
            <p:ph type="title"/>
          </p:nvPr>
        </p:nvSpPr>
        <p:spPr/>
        <p:txBody>
          <a:bodyPr/>
          <a:lstStyle/>
          <a:p>
            <a:r>
              <a:rPr lang="en-US" dirty="0"/>
              <a:t>Program Output Plot 1</a:t>
            </a:r>
          </a:p>
        </p:txBody>
      </p:sp>
      <p:pic>
        <p:nvPicPr>
          <p:cNvPr id="9" name="Picture 8">
            <a:extLst>
              <a:ext uri="{FF2B5EF4-FFF2-40B4-BE49-F238E27FC236}">
                <a16:creationId xmlns:a16="http://schemas.microsoft.com/office/drawing/2014/main" id="{795FE1D4-4FF9-A47D-A988-B85379F6E2D3}"/>
              </a:ext>
            </a:extLst>
          </p:cNvPr>
          <p:cNvPicPr>
            <a:picLocks noChangeAspect="1"/>
          </p:cNvPicPr>
          <p:nvPr/>
        </p:nvPicPr>
        <p:blipFill>
          <a:blip r:embed="rId2"/>
          <a:stretch>
            <a:fillRect/>
          </a:stretch>
        </p:blipFill>
        <p:spPr>
          <a:xfrm>
            <a:off x="1397702" y="2044250"/>
            <a:ext cx="6348595" cy="3522833"/>
          </a:xfrm>
          <a:prstGeom prst="rect">
            <a:avLst/>
          </a:prstGeom>
        </p:spPr>
      </p:pic>
    </p:spTree>
    <p:extLst>
      <p:ext uri="{BB962C8B-B14F-4D97-AF65-F5344CB8AC3E}">
        <p14:creationId xmlns:p14="http://schemas.microsoft.com/office/powerpoint/2010/main" val="2984891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CE09-172E-D16C-4429-B3747E9453C2}"/>
              </a:ext>
            </a:extLst>
          </p:cNvPr>
          <p:cNvSpPr>
            <a:spLocks noGrp="1"/>
          </p:cNvSpPr>
          <p:nvPr>
            <p:ph type="title"/>
          </p:nvPr>
        </p:nvSpPr>
        <p:spPr/>
        <p:txBody>
          <a:bodyPr/>
          <a:lstStyle/>
          <a:p>
            <a:r>
              <a:rPr lang="en-US" dirty="0"/>
              <a:t>Program Output Plot 2</a:t>
            </a:r>
          </a:p>
        </p:txBody>
      </p:sp>
      <p:pic>
        <p:nvPicPr>
          <p:cNvPr id="23" name="Picture 22">
            <a:extLst>
              <a:ext uri="{FF2B5EF4-FFF2-40B4-BE49-F238E27FC236}">
                <a16:creationId xmlns:a16="http://schemas.microsoft.com/office/drawing/2014/main" id="{F625640C-AC64-3C15-2951-1A59BDE025C5}"/>
              </a:ext>
            </a:extLst>
          </p:cNvPr>
          <p:cNvPicPr>
            <a:picLocks noChangeAspect="1"/>
          </p:cNvPicPr>
          <p:nvPr/>
        </p:nvPicPr>
        <p:blipFill>
          <a:blip r:embed="rId2"/>
          <a:stretch>
            <a:fillRect/>
          </a:stretch>
        </p:blipFill>
        <p:spPr>
          <a:xfrm>
            <a:off x="1882525" y="1977927"/>
            <a:ext cx="5378950" cy="4209308"/>
          </a:xfrm>
          <a:prstGeom prst="rect">
            <a:avLst/>
          </a:prstGeom>
        </p:spPr>
      </p:pic>
    </p:spTree>
    <p:extLst>
      <p:ext uri="{BB962C8B-B14F-4D97-AF65-F5344CB8AC3E}">
        <p14:creationId xmlns:p14="http://schemas.microsoft.com/office/powerpoint/2010/main" val="1368938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CE09-172E-D16C-4429-B3747E9453C2}"/>
              </a:ext>
            </a:extLst>
          </p:cNvPr>
          <p:cNvSpPr>
            <a:spLocks noGrp="1"/>
          </p:cNvSpPr>
          <p:nvPr>
            <p:ph type="title"/>
          </p:nvPr>
        </p:nvSpPr>
        <p:spPr/>
        <p:txBody>
          <a:bodyPr/>
          <a:lstStyle/>
          <a:p>
            <a:r>
              <a:rPr lang="en-US" dirty="0"/>
              <a:t>Program Output Plot 3</a:t>
            </a:r>
          </a:p>
        </p:txBody>
      </p:sp>
      <p:pic>
        <p:nvPicPr>
          <p:cNvPr id="11" name="Picture 10">
            <a:extLst>
              <a:ext uri="{FF2B5EF4-FFF2-40B4-BE49-F238E27FC236}">
                <a16:creationId xmlns:a16="http://schemas.microsoft.com/office/drawing/2014/main" id="{C3DF6028-A7D8-8665-8813-59FD9483F3E8}"/>
              </a:ext>
            </a:extLst>
          </p:cNvPr>
          <p:cNvPicPr>
            <a:picLocks noChangeAspect="1"/>
          </p:cNvPicPr>
          <p:nvPr/>
        </p:nvPicPr>
        <p:blipFill>
          <a:blip r:embed="rId2"/>
          <a:stretch>
            <a:fillRect/>
          </a:stretch>
        </p:blipFill>
        <p:spPr>
          <a:xfrm>
            <a:off x="1756644" y="1870350"/>
            <a:ext cx="5630711" cy="4294489"/>
          </a:xfrm>
          <a:prstGeom prst="rect">
            <a:avLst/>
          </a:prstGeom>
        </p:spPr>
      </p:pic>
    </p:spTree>
    <p:extLst>
      <p:ext uri="{BB962C8B-B14F-4D97-AF65-F5344CB8AC3E}">
        <p14:creationId xmlns:p14="http://schemas.microsoft.com/office/powerpoint/2010/main" val="26488928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CE09-172E-D16C-4429-B3747E9453C2}"/>
              </a:ext>
            </a:extLst>
          </p:cNvPr>
          <p:cNvSpPr>
            <a:spLocks noGrp="1"/>
          </p:cNvSpPr>
          <p:nvPr>
            <p:ph type="title"/>
          </p:nvPr>
        </p:nvSpPr>
        <p:spPr/>
        <p:txBody>
          <a:bodyPr/>
          <a:lstStyle/>
          <a:p>
            <a:r>
              <a:rPr lang="en-US" dirty="0"/>
              <a:t>Program Output Plot 4</a:t>
            </a:r>
          </a:p>
        </p:txBody>
      </p:sp>
      <p:pic>
        <p:nvPicPr>
          <p:cNvPr id="16" name="Picture 15">
            <a:extLst>
              <a:ext uri="{FF2B5EF4-FFF2-40B4-BE49-F238E27FC236}">
                <a16:creationId xmlns:a16="http://schemas.microsoft.com/office/drawing/2014/main" id="{632B6D09-8535-FD6A-F063-BB27B7BB987D}"/>
              </a:ext>
            </a:extLst>
          </p:cNvPr>
          <p:cNvPicPr>
            <a:picLocks noChangeAspect="1"/>
          </p:cNvPicPr>
          <p:nvPr/>
        </p:nvPicPr>
        <p:blipFill>
          <a:blip r:embed="rId2"/>
          <a:stretch>
            <a:fillRect/>
          </a:stretch>
        </p:blipFill>
        <p:spPr>
          <a:xfrm>
            <a:off x="1611134" y="1834492"/>
            <a:ext cx="5967452" cy="4400538"/>
          </a:xfrm>
          <a:prstGeom prst="rect">
            <a:avLst/>
          </a:prstGeom>
        </p:spPr>
      </p:pic>
    </p:spTree>
    <p:extLst>
      <p:ext uri="{BB962C8B-B14F-4D97-AF65-F5344CB8AC3E}">
        <p14:creationId xmlns:p14="http://schemas.microsoft.com/office/powerpoint/2010/main" val="2636744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CE09-172E-D16C-4429-B3747E9453C2}"/>
              </a:ext>
            </a:extLst>
          </p:cNvPr>
          <p:cNvSpPr>
            <a:spLocks noGrp="1"/>
          </p:cNvSpPr>
          <p:nvPr>
            <p:ph type="title"/>
          </p:nvPr>
        </p:nvSpPr>
        <p:spPr/>
        <p:txBody>
          <a:bodyPr/>
          <a:lstStyle/>
          <a:p>
            <a:r>
              <a:rPr lang="en-US" dirty="0"/>
              <a:t>Program Output Plot 5</a:t>
            </a:r>
          </a:p>
        </p:txBody>
      </p:sp>
      <p:pic>
        <p:nvPicPr>
          <p:cNvPr id="6" name="Picture 5">
            <a:extLst>
              <a:ext uri="{FF2B5EF4-FFF2-40B4-BE49-F238E27FC236}">
                <a16:creationId xmlns:a16="http://schemas.microsoft.com/office/drawing/2014/main" id="{E4ED3629-F196-74CA-B512-53EFE125C13C}"/>
              </a:ext>
            </a:extLst>
          </p:cNvPr>
          <p:cNvPicPr>
            <a:picLocks noChangeAspect="1"/>
          </p:cNvPicPr>
          <p:nvPr/>
        </p:nvPicPr>
        <p:blipFill>
          <a:blip r:embed="rId2"/>
          <a:stretch>
            <a:fillRect/>
          </a:stretch>
        </p:blipFill>
        <p:spPr>
          <a:xfrm>
            <a:off x="1599984" y="1890712"/>
            <a:ext cx="5944032" cy="4187176"/>
          </a:xfrm>
          <a:prstGeom prst="rect">
            <a:avLst/>
          </a:prstGeom>
        </p:spPr>
      </p:pic>
    </p:spTree>
    <p:extLst>
      <p:ext uri="{BB962C8B-B14F-4D97-AF65-F5344CB8AC3E}">
        <p14:creationId xmlns:p14="http://schemas.microsoft.com/office/powerpoint/2010/main" val="2359952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CE09-172E-D16C-4429-B3747E9453C2}"/>
              </a:ext>
            </a:extLst>
          </p:cNvPr>
          <p:cNvSpPr>
            <a:spLocks noGrp="1"/>
          </p:cNvSpPr>
          <p:nvPr>
            <p:ph type="title"/>
          </p:nvPr>
        </p:nvSpPr>
        <p:spPr/>
        <p:txBody>
          <a:bodyPr/>
          <a:lstStyle/>
          <a:p>
            <a:r>
              <a:rPr lang="en-US" dirty="0"/>
              <a:t>Program Output Plot 6</a:t>
            </a:r>
          </a:p>
        </p:txBody>
      </p:sp>
      <p:pic>
        <p:nvPicPr>
          <p:cNvPr id="10" name="Picture 9">
            <a:extLst>
              <a:ext uri="{FF2B5EF4-FFF2-40B4-BE49-F238E27FC236}">
                <a16:creationId xmlns:a16="http://schemas.microsoft.com/office/drawing/2014/main" id="{2BC340E2-FCED-3263-43CE-039A5299D9E2}"/>
              </a:ext>
            </a:extLst>
          </p:cNvPr>
          <p:cNvPicPr>
            <a:picLocks noChangeAspect="1"/>
          </p:cNvPicPr>
          <p:nvPr/>
        </p:nvPicPr>
        <p:blipFill>
          <a:blip r:embed="rId2"/>
          <a:stretch>
            <a:fillRect/>
          </a:stretch>
        </p:blipFill>
        <p:spPr>
          <a:xfrm>
            <a:off x="1755057" y="1847563"/>
            <a:ext cx="5633886" cy="4362870"/>
          </a:xfrm>
          <a:prstGeom prst="rect">
            <a:avLst/>
          </a:prstGeom>
        </p:spPr>
      </p:pic>
    </p:spTree>
    <p:extLst>
      <p:ext uri="{BB962C8B-B14F-4D97-AF65-F5344CB8AC3E}">
        <p14:creationId xmlns:p14="http://schemas.microsoft.com/office/powerpoint/2010/main" val="2080880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2CE1C-F82C-53E6-BF95-8A580F7AFC55}"/>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B47CADA8-ED43-8227-50DF-1BAA8D9259B2}"/>
              </a:ext>
            </a:extLst>
          </p:cNvPr>
          <p:cNvSpPr>
            <a:spLocks noGrp="1"/>
          </p:cNvSpPr>
          <p:nvPr>
            <p:ph idx="1"/>
          </p:nvPr>
        </p:nvSpPr>
        <p:spPr/>
        <p:txBody>
          <a:bodyPr>
            <a:normAutofit/>
          </a:bodyPr>
          <a:lstStyle/>
          <a:p>
            <a:pPr marL="457200" indent="-457200">
              <a:buFont typeface="+mj-lt"/>
              <a:buAutoNum type="arabicPeriod"/>
            </a:pPr>
            <a:r>
              <a:rPr lang="en-US" dirty="0"/>
              <a:t>http://baseball.physics.illinois.edu/PointC.html</a:t>
            </a:r>
          </a:p>
          <a:p>
            <a:pPr marL="457200" indent="-457200">
              <a:buFont typeface="+mj-lt"/>
              <a:buAutoNum type="arabicPeriod"/>
            </a:pPr>
            <a:r>
              <a:rPr lang="en-US" dirty="0"/>
              <a:t>http://baseball.physics.illinois.edu/DragTPTMay2014.pdf</a:t>
            </a:r>
          </a:p>
          <a:p>
            <a:pPr marL="457200" indent="-457200">
              <a:buFont typeface="+mj-lt"/>
              <a:buAutoNum type="arabicPeriod"/>
            </a:pPr>
            <a:r>
              <a:rPr lang="en-US" dirty="0"/>
              <a:t>https://en.wikipedia.org/wiki/Projectile_motion</a:t>
            </a:r>
          </a:p>
          <a:p>
            <a:pPr marL="457200" indent="-457200">
              <a:buFont typeface="+mj-lt"/>
              <a:buAutoNum type="arabicPeriod"/>
            </a:pPr>
            <a:r>
              <a:rPr lang="en-US" dirty="0"/>
              <a:t>https://baseballaero.com/2019/05/03/baseball-drag-crisis/</a:t>
            </a:r>
          </a:p>
          <a:p>
            <a:pPr marL="457200" indent="-457200">
              <a:buFont typeface="+mj-lt"/>
              <a:buAutoNum type="arabicPeriod"/>
            </a:pPr>
            <a:r>
              <a:rPr lang="en-US" dirty="0"/>
              <a:t>http://baseball.physics.illinois.edu/KensrudThesis.pdf</a:t>
            </a:r>
          </a:p>
        </p:txBody>
      </p:sp>
    </p:spTree>
    <p:extLst>
      <p:ext uri="{BB962C8B-B14F-4D97-AF65-F5344CB8AC3E}">
        <p14:creationId xmlns:p14="http://schemas.microsoft.com/office/powerpoint/2010/main" val="82229029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2962</TotalTime>
  <Words>1532</Words>
  <Application>Microsoft Office PowerPoint</Application>
  <PresentationFormat>On-screen Show (4:3)</PresentationFormat>
  <Paragraphs>195</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Cambria Math</vt:lpstr>
      <vt:lpstr>Retrospect</vt:lpstr>
      <vt:lpstr>Baseball Trajectory Simulation</vt:lpstr>
      <vt:lpstr>Outline</vt:lpstr>
      <vt:lpstr>Simulation Overview</vt:lpstr>
      <vt:lpstr> Projectile Motion in a Vacuum</vt:lpstr>
      <vt:lpstr> Projectile Motion in a Vacuum</vt:lpstr>
      <vt:lpstr> Projectile Motion through Air</vt:lpstr>
      <vt:lpstr> Projectile Motion through Air</vt:lpstr>
      <vt:lpstr>Projectile Motion through Air</vt:lpstr>
      <vt:lpstr>Projectile Motion through Air</vt:lpstr>
      <vt:lpstr> Projectile Motion through Air</vt:lpstr>
      <vt:lpstr> Projectile Motion through Air</vt:lpstr>
      <vt:lpstr>Projectile Motion through Air</vt:lpstr>
      <vt:lpstr> Projectile Motion through Air</vt:lpstr>
      <vt:lpstr> Projectile Motion through Air</vt:lpstr>
      <vt:lpstr> Projectile Motion through Air</vt:lpstr>
      <vt:lpstr> Projectile Motion through Air</vt:lpstr>
      <vt:lpstr> Projectile Motion through Air</vt:lpstr>
      <vt:lpstr> Projectile Motion through Air</vt:lpstr>
      <vt:lpstr>Program Flow Diagram</vt:lpstr>
      <vt:lpstr>Program Inputs to Console</vt:lpstr>
      <vt:lpstr>Program Outputs to Console</vt:lpstr>
      <vt:lpstr>Program Output Plot 1</vt:lpstr>
      <vt:lpstr>Program Output Plot 2</vt:lpstr>
      <vt:lpstr>Program Output Plot 3</vt:lpstr>
      <vt:lpstr>Program Output Plot 4</vt:lpstr>
      <vt:lpstr>Program Output Plot 5</vt:lpstr>
      <vt:lpstr>Program Output Plot 6</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Baseball Trajectory Simulation</dc:title>
  <dc:creator>Bradley Canty</dc:creator>
  <cp:lastModifiedBy>Bradley Canty</cp:lastModifiedBy>
  <cp:revision>19</cp:revision>
  <dcterms:created xsi:type="dcterms:W3CDTF">2026-06-25T20:53:52Z</dcterms:created>
  <dcterms:modified xsi:type="dcterms:W3CDTF">2026-06-27T22:17:01Z</dcterms:modified>
</cp:coreProperties>
</file>